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6229350" cy="329565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35" d="100"/>
          <a:sy n="235" d="100"/>
        </p:scale>
        <p:origin x="198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ase1-background"/>
          <p:cNvSpPr/>
          <p:nvPr/>
        </p:nvSpPr>
        <p:spPr>
          <a:xfrm>
            <a:off x="685800" y="600075"/>
            <a:ext cx="5362575" cy="102870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phase2-background"/>
          <p:cNvSpPr/>
          <p:nvPr/>
        </p:nvSpPr>
        <p:spPr>
          <a:xfrm>
            <a:off x="685800" y="1676400"/>
            <a:ext cx="5362575" cy="1419225"/>
          </a:xfrm>
          <a:prstGeom prst="rect">
            <a:avLst/>
          </a:prstGeom>
          <a:solidFill>
            <a:srgbClr val="E4F4F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phase-divider"/>
          <p:cNvSpPr/>
          <p:nvPr/>
        </p:nvSpPr>
        <p:spPr>
          <a:xfrm>
            <a:off x="685800" y="1666875"/>
            <a:ext cx="5362575" cy="0"/>
          </a:xfrm>
          <a:prstGeom prst="line">
            <a:avLst/>
          </a:prstGeom>
          <a:noFill/>
          <a:ln w="10795">
            <a:solidFill>
              <a:srgbClr val="6799B0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5" name="input-card"/>
          <p:cNvSpPr/>
          <p:nvPr/>
        </p:nvSpPr>
        <p:spPr>
          <a:xfrm>
            <a:off x="1771650" y="247650"/>
            <a:ext cx="1771650" cy="295275"/>
          </a:xfrm>
          <a:prstGeom prst="roundRect">
            <a:avLst>
              <a:gd name="adj" fmla="val 19355"/>
            </a:avLst>
          </a:prstGeom>
          <a:solidFill>
            <a:srgbClr val="EAEAEA"/>
          </a:solidFill>
          <a:ln w="9525">
            <a:solidFill>
              <a:srgbClr val="96969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single"/>
          <p:cNvSpPr/>
          <p:nvPr/>
        </p:nvSpPr>
        <p:spPr>
          <a:xfrm>
            <a:off x="3867150" y="695325"/>
            <a:ext cx="2105025" cy="352425"/>
          </a:xfrm>
          <a:prstGeom prst="roundRect">
            <a:avLst>
              <a:gd name="adj" fmla="val 16216"/>
            </a:avLst>
          </a:prstGeom>
          <a:solidFill>
            <a:srgbClr val="DFDFDF"/>
          </a:solidFill>
          <a:ln w="9525">
            <a:solidFill>
              <a:srgbClr val="8F8F8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" name="hitl"/>
          <p:cNvSpPr/>
          <p:nvPr/>
        </p:nvSpPr>
        <p:spPr>
          <a:xfrm>
            <a:off x="3867150" y="1219200"/>
            <a:ext cx="2105025" cy="352425"/>
          </a:xfrm>
          <a:prstGeom prst="roundRect">
            <a:avLst>
              <a:gd name="adj" fmla="val 16216"/>
            </a:avLst>
          </a:prstGeom>
          <a:solidFill>
            <a:srgbClr val="F6C9C4"/>
          </a:solidFill>
          <a:ln w="9525">
            <a:solidFill>
              <a:srgbClr val="BA746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" name="hierarchy"/>
          <p:cNvSpPr/>
          <p:nvPr/>
        </p:nvSpPr>
        <p:spPr>
          <a:xfrm>
            <a:off x="3867150" y="1781175"/>
            <a:ext cx="2105025" cy="352425"/>
          </a:xfrm>
          <a:prstGeom prst="roundRect">
            <a:avLst>
              <a:gd name="adj" fmla="val 16216"/>
            </a:avLst>
          </a:prstGeom>
          <a:solidFill>
            <a:srgbClr val="DDEBC5"/>
          </a:solidFill>
          <a:ln w="9525">
            <a:solidFill>
              <a:srgbClr val="819D6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adaptive"/>
          <p:cNvSpPr/>
          <p:nvPr/>
        </p:nvSpPr>
        <p:spPr>
          <a:xfrm>
            <a:off x="3867150" y="2343150"/>
            <a:ext cx="2105025" cy="352425"/>
          </a:xfrm>
          <a:prstGeom prst="roundRect">
            <a:avLst>
              <a:gd name="adj" fmla="val 16216"/>
            </a:avLst>
          </a:prstGeom>
          <a:solidFill>
            <a:srgbClr val="FFE0B7"/>
          </a:solidFill>
          <a:ln w="9525">
            <a:solidFill>
              <a:srgbClr val="C699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flat"/>
          <p:cNvSpPr/>
          <p:nvPr/>
        </p:nvSpPr>
        <p:spPr>
          <a:xfrm>
            <a:off x="3867150" y="2743200"/>
            <a:ext cx="2105025" cy="352425"/>
          </a:xfrm>
          <a:prstGeom prst="roundRect">
            <a:avLst>
              <a:gd name="adj" fmla="val 16216"/>
            </a:avLst>
          </a:prstGeom>
          <a:solidFill>
            <a:srgbClr val="CAE4F1"/>
          </a:solidFill>
          <a:ln w="9525">
            <a:solidFill>
              <a:srgbClr val="6191A6"/>
            </a:solidFill>
          </a:ln>
        </p:spPr>
        <p:txBody>
          <a:bodyPr/>
          <a:lstStyle/>
          <a:p>
            <a:endParaRPr/>
          </a:p>
        </p:txBody>
      </p:sp>
      <p:cxnSp>
        <p:nvCxnSpPr>
          <p:cNvPr id="11" name="input-to-q1"/>
          <p:cNvCxnSpPr/>
          <p:nvPr/>
        </p:nvCxnSpPr>
        <p:spPr>
          <a:xfrm>
            <a:off x="2657475" y="542925"/>
            <a:ext cx="0" cy="142875"/>
          </a:xfrm>
          <a:prstGeom prst="line">
            <a:avLst/>
          </a:prstGeom>
          <a:noFill/>
          <a:ln w="8255">
            <a:solidFill>
              <a:srgbClr val="384C57"/>
            </a:solidFill>
            <a:tailEnd type="triangle" w="sm" len="sm"/>
          </a:ln>
        </p:spPr>
      </p:cxnSp>
      <p:cxnSp>
        <p:nvCxnSpPr>
          <p:cNvPr id="12" name="q1-true"/>
          <p:cNvCxnSpPr/>
          <p:nvPr/>
        </p:nvCxnSpPr>
        <p:spPr>
          <a:xfrm>
            <a:off x="3581400" y="866775"/>
            <a:ext cx="285750" cy="0"/>
          </a:xfrm>
          <a:prstGeom prst="line">
            <a:avLst/>
          </a:prstGeom>
          <a:noFill/>
          <a:ln w="8255">
            <a:solidFill>
              <a:srgbClr val="384C57"/>
            </a:solidFill>
            <a:tailEnd type="triangle" w="sm" len="sm"/>
          </a:ln>
        </p:spPr>
      </p:cxnSp>
      <p:cxnSp>
        <p:nvCxnSpPr>
          <p:cNvPr id="13" name="q1-false"/>
          <p:cNvCxnSpPr/>
          <p:nvPr/>
        </p:nvCxnSpPr>
        <p:spPr>
          <a:xfrm>
            <a:off x="2657475" y="1047750"/>
            <a:ext cx="0" cy="171450"/>
          </a:xfrm>
          <a:prstGeom prst="line">
            <a:avLst/>
          </a:prstGeom>
          <a:noFill/>
          <a:ln w="8255">
            <a:solidFill>
              <a:srgbClr val="384C57"/>
            </a:solidFill>
            <a:tailEnd type="triangle" w="sm" len="sm"/>
          </a:ln>
        </p:spPr>
      </p:cxnSp>
      <p:cxnSp>
        <p:nvCxnSpPr>
          <p:cNvPr id="14" name="q2-true"/>
          <p:cNvCxnSpPr/>
          <p:nvPr/>
        </p:nvCxnSpPr>
        <p:spPr>
          <a:xfrm>
            <a:off x="3581400" y="1400175"/>
            <a:ext cx="285750" cy="0"/>
          </a:xfrm>
          <a:prstGeom prst="line">
            <a:avLst/>
          </a:prstGeom>
          <a:noFill/>
          <a:ln w="8255">
            <a:solidFill>
              <a:srgbClr val="384C57"/>
            </a:solidFill>
            <a:tailEnd type="triangle" w="sm" len="sm"/>
          </a:ln>
        </p:spPr>
      </p:cxnSp>
      <p:cxnSp>
        <p:nvCxnSpPr>
          <p:cNvPr id="15" name="q2-false"/>
          <p:cNvCxnSpPr/>
          <p:nvPr/>
        </p:nvCxnSpPr>
        <p:spPr>
          <a:xfrm>
            <a:off x="2657475" y="1581150"/>
            <a:ext cx="0" cy="171450"/>
          </a:xfrm>
          <a:prstGeom prst="line">
            <a:avLst/>
          </a:prstGeom>
          <a:noFill/>
          <a:ln w="8255">
            <a:solidFill>
              <a:srgbClr val="384C57"/>
            </a:solidFill>
            <a:tailEnd type="triangle" w="sm" len="sm"/>
          </a:ln>
        </p:spPr>
      </p:cxnSp>
      <p:sp>
        <p:nvSpPr>
          <p:cNvPr id="16" name="clock-hand1"/>
          <p:cNvSpPr/>
          <p:nvPr/>
        </p:nvSpPr>
        <p:spPr>
          <a:xfrm>
            <a:off x="5876925" y="762000"/>
            <a:ext cx="0" cy="28575"/>
          </a:xfrm>
          <a:prstGeom prst="line">
            <a:avLst/>
          </a:prstGeom>
          <a:noFill/>
          <a:ln w="6350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7" name="clock-hand2"/>
          <p:cNvSpPr/>
          <p:nvPr/>
        </p:nvSpPr>
        <p:spPr>
          <a:xfrm>
            <a:off x="5876925" y="790575"/>
            <a:ext cx="28575" cy="28575"/>
          </a:xfrm>
          <a:prstGeom prst="line">
            <a:avLst/>
          </a:prstGeom>
          <a:noFill/>
          <a:ln w="6350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" name="reviewer-hand"/>
          <p:cNvSpPr/>
          <p:nvPr/>
        </p:nvSpPr>
        <p:spPr>
          <a:xfrm flipH="1">
            <a:off x="5572125" y="1409700"/>
            <a:ext cx="28575" cy="47625"/>
          </a:xfrm>
          <a:prstGeom prst="line">
            <a:avLst/>
          </a:prstGeom>
          <a:noFill/>
          <a:ln w="6985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" name="gavel-handle"/>
          <p:cNvSpPr/>
          <p:nvPr/>
        </p:nvSpPr>
        <p:spPr>
          <a:xfrm>
            <a:off x="5848350" y="1304925"/>
            <a:ext cx="47625" cy="57150"/>
          </a:xfrm>
          <a:prstGeom prst="line">
            <a:avLst/>
          </a:prstGeom>
          <a:noFill/>
          <a:ln w="13970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cxnSp>
        <p:nvCxnSpPr>
          <p:cNvPr id="20" name="q3-true"/>
          <p:cNvCxnSpPr/>
          <p:nvPr/>
        </p:nvCxnSpPr>
        <p:spPr>
          <a:xfrm>
            <a:off x="3581400" y="1962150"/>
            <a:ext cx="285750" cy="0"/>
          </a:xfrm>
          <a:prstGeom prst="line">
            <a:avLst/>
          </a:prstGeom>
          <a:noFill/>
          <a:ln w="8255">
            <a:solidFill>
              <a:srgbClr val="384C57"/>
            </a:solidFill>
            <a:tailEnd type="triangle" w="sm" len="sm"/>
          </a:ln>
        </p:spPr>
      </p:cxnSp>
      <p:cxnSp>
        <p:nvCxnSpPr>
          <p:cNvPr id="21" name="q3-false"/>
          <p:cNvCxnSpPr/>
          <p:nvPr/>
        </p:nvCxnSpPr>
        <p:spPr>
          <a:xfrm>
            <a:off x="2657475" y="2143125"/>
            <a:ext cx="0" cy="171450"/>
          </a:xfrm>
          <a:prstGeom prst="line">
            <a:avLst/>
          </a:prstGeom>
          <a:noFill/>
          <a:ln w="8255">
            <a:solidFill>
              <a:srgbClr val="384C57"/>
            </a:solidFill>
            <a:tailEnd type="triangle" w="sm" len="sm"/>
          </a:ln>
        </p:spPr>
      </p:cxnSp>
      <p:cxnSp>
        <p:nvCxnSpPr>
          <p:cNvPr id="22" name="q4-true"/>
          <p:cNvCxnSpPr/>
          <p:nvPr/>
        </p:nvCxnSpPr>
        <p:spPr>
          <a:xfrm>
            <a:off x="3581400" y="2524125"/>
            <a:ext cx="285750" cy="0"/>
          </a:xfrm>
          <a:prstGeom prst="line">
            <a:avLst/>
          </a:prstGeom>
          <a:noFill/>
          <a:ln w="8255">
            <a:solidFill>
              <a:srgbClr val="384C57"/>
            </a:solidFill>
            <a:tailEnd type="triangle" w="sm" len="sm"/>
          </a:ln>
        </p:spPr>
      </p:cxnSp>
      <p:cxnSp>
        <p:nvCxnSpPr>
          <p:cNvPr id="23" name="q4-false"/>
          <p:cNvCxnSpPr/>
          <p:nvPr/>
        </p:nvCxnSpPr>
        <p:spPr>
          <a:xfrm>
            <a:off x="2657475" y="2733675"/>
            <a:ext cx="1209675" cy="180975"/>
          </a:xfrm>
          <a:prstGeom prst="bentConnector3">
            <a:avLst/>
          </a:prstGeom>
          <a:noFill/>
          <a:ln w="8255">
            <a:solidFill>
              <a:srgbClr val="384C57"/>
            </a:solidFill>
            <a:tailEnd type="triangle" w="sm" len="sm"/>
          </a:ln>
        </p:spPr>
      </p:cxnSp>
      <p:sp>
        <p:nvSpPr>
          <p:cNvPr id="24" name="h-line1"/>
          <p:cNvSpPr/>
          <p:nvPr/>
        </p:nvSpPr>
        <p:spPr>
          <a:xfrm>
            <a:off x="5791200" y="1914525"/>
            <a:ext cx="0" cy="47625"/>
          </a:xfrm>
          <a:prstGeom prst="line">
            <a:avLst/>
          </a:prstGeom>
          <a:noFill/>
          <a:ln w="6985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5" name="h-line2"/>
          <p:cNvSpPr/>
          <p:nvPr/>
        </p:nvSpPr>
        <p:spPr>
          <a:xfrm>
            <a:off x="5791200" y="2009775"/>
            <a:ext cx="0" cy="28575"/>
          </a:xfrm>
          <a:prstGeom prst="line">
            <a:avLst/>
          </a:prstGeom>
          <a:noFill/>
          <a:ln w="6985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6" name="h-left-edge"/>
          <p:cNvSpPr/>
          <p:nvPr/>
        </p:nvSpPr>
        <p:spPr>
          <a:xfrm flipH="1">
            <a:off x="5705475" y="2019300"/>
            <a:ext cx="85725" cy="19050"/>
          </a:xfrm>
          <a:prstGeom prst="line">
            <a:avLst/>
          </a:prstGeom>
          <a:noFill/>
          <a:ln w="6350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7" name="h-right-edge"/>
          <p:cNvSpPr/>
          <p:nvPr/>
        </p:nvSpPr>
        <p:spPr>
          <a:xfrm>
            <a:off x="5791200" y="2019300"/>
            <a:ext cx="85725" cy="19050"/>
          </a:xfrm>
          <a:prstGeom prst="line">
            <a:avLst/>
          </a:prstGeom>
          <a:noFill/>
          <a:ln w="6350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8" name="mesh-edge-0"/>
          <p:cNvSpPr/>
          <p:nvPr/>
        </p:nvSpPr>
        <p:spPr>
          <a:xfrm flipV="1">
            <a:off x="5715000" y="2419350"/>
            <a:ext cx="85725" cy="19050"/>
          </a:xfrm>
          <a:prstGeom prst="line">
            <a:avLst/>
          </a:prstGeom>
          <a:noFill/>
          <a:ln w="5715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9" name="mesh-edge-1"/>
          <p:cNvSpPr/>
          <p:nvPr/>
        </p:nvSpPr>
        <p:spPr>
          <a:xfrm>
            <a:off x="5800725" y="2419350"/>
            <a:ext cx="85725" cy="28575"/>
          </a:xfrm>
          <a:prstGeom prst="line">
            <a:avLst/>
          </a:prstGeom>
          <a:noFill/>
          <a:ln w="5715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0" name="mesh-edge-2"/>
          <p:cNvSpPr/>
          <p:nvPr/>
        </p:nvSpPr>
        <p:spPr>
          <a:xfrm flipH="1">
            <a:off x="5676900" y="2438400"/>
            <a:ext cx="38100" cy="76200"/>
          </a:xfrm>
          <a:prstGeom prst="line">
            <a:avLst/>
          </a:prstGeom>
          <a:noFill/>
          <a:ln w="5715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" name="mesh-edge-3"/>
          <p:cNvSpPr/>
          <p:nvPr/>
        </p:nvSpPr>
        <p:spPr>
          <a:xfrm>
            <a:off x="5715000" y="2438400"/>
            <a:ext cx="66675" cy="76200"/>
          </a:xfrm>
          <a:prstGeom prst="line">
            <a:avLst/>
          </a:prstGeom>
          <a:noFill/>
          <a:ln w="5715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2" name="mesh-edge-4"/>
          <p:cNvSpPr/>
          <p:nvPr/>
        </p:nvSpPr>
        <p:spPr>
          <a:xfrm flipH="1">
            <a:off x="5781675" y="2419350"/>
            <a:ext cx="19050" cy="95250"/>
          </a:xfrm>
          <a:prstGeom prst="line">
            <a:avLst/>
          </a:prstGeom>
          <a:noFill/>
          <a:ln w="5715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3" name="mesh-edge-5"/>
          <p:cNvSpPr/>
          <p:nvPr/>
        </p:nvSpPr>
        <p:spPr>
          <a:xfrm flipH="1">
            <a:off x="5781675" y="2447925"/>
            <a:ext cx="104775" cy="66675"/>
          </a:xfrm>
          <a:prstGeom prst="line">
            <a:avLst/>
          </a:prstGeom>
          <a:noFill/>
          <a:ln w="5715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4" name="mesh-edge-6"/>
          <p:cNvSpPr/>
          <p:nvPr/>
        </p:nvSpPr>
        <p:spPr>
          <a:xfrm flipH="1">
            <a:off x="5867400" y="2447925"/>
            <a:ext cx="19050" cy="104775"/>
          </a:xfrm>
          <a:prstGeom prst="line">
            <a:avLst/>
          </a:prstGeom>
          <a:noFill/>
          <a:ln w="5715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5" name="mesh-edge-7"/>
          <p:cNvSpPr/>
          <p:nvPr/>
        </p:nvSpPr>
        <p:spPr>
          <a:xfrm>
            <a:off x="5676900" y="2514600"/>
            <a:ext cx="104775" cy="0"/>
          </a:xfrm>
          <a:prstGeom prst="line">
            <a:avLst/>
          </a:prstGeom>
          <a:noFill/>
          <a:ln w="5715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6" name="mesh-edge-8"/>
          <p:cNvSpPr/>
          <p:nvPr/>
        </p:nvSpPr>
        <p:spPr>
          <a:xfrm>
            <a:off x="5676900" y="2514600"/>
            <a:ext cx="66675" cy="95250"/>
          </a:xfrm>
          <a:prstGeom prst="line">
            <a:avLst/>
          </a:prstGeom>
          <a:noFill/>
          <a:ln w="5715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7" name="mesh-edge-9"/>
          <p:cNvSpPr/>
          <p:nvPr/>
        </p:nvSpPr>
        <p:spPr>
          <a:xfrm>
            <a:off x="5781675" y="2514600"/>
            <a:ext cx="85725" cy="38100"/>
          </a:xfrm>
          <a:prstGeom prst="line">
            <a:avLst/>
          </a:prstGeom>
          <a:noFill/>
          <a:ln w="5715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8" name="mesh-edge-10"/>
          <p:cNvSpPr/>
          <p:nvPr/>
        </p:nvSpPr>
        <p:spPr>
          <a:xfrm flipH="1">
            <a:off x="5743575" y="2514600"/>
            <a:ext cx="38100" cy="95250"/>
          </a:xfrm>
          <a:prstGeom prst="line">
            <a:avLst/>
          </a:prstGeom>
          <a:noFill/>
          <a:ln w="5715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9" name="mesh-edge-11"/>
          <p:cNvSpPr/>
          <p:nvPr/>
        </p:nvSpPr>
        <p:spPr>
          <a:xfrm flipH="1">
            <a:off x="5743575" y="2552700"/>
            <a:ext cx="123825" cy="57150"/>
          </a:xfrm>
          <a:prstGeom prst="line">
            <a:avLst/>
          </a:prstGeom>
          <a:noFill/>
          <a:ln w="5715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0" name="q1"/>
          <p:cNvSpPr/>
          <p:nvPr/>
        </p:nvSpPr>
        <p:spPr>
          <a:xfrm>
            <a:off x="1704975" y="685800"/>
            <a:ext cx="1876425" cy="361950"/>
          </a:xfrm>
          <a:prstGeom prst="diamond">
            <a:avLst/>
          </a:prstGeom>
          <a:solidFill>
            <a:srgbClr val="BFDEEC"/>
          </a:solidFill>
          <a:ln w="10160">
            <a:solidFill>
              <a:srgbClr val="6191A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1" name="q2"/>
          <p:cNvSpPr/>
          <p:nvPr/>
        </p:nvSpPr>
        <p:spPr>
          <a:xfrm>
            <a:off x="1704975" y="1219200"/>
            <a:ext cx="1876425" cy="361950"/>
          </a:xfrm>
          <a:prstGeom prst="diamond">
            <a:avLst/>
          </a:prstGeom>
          <a:solidFill>
            <a:srgbClr val="BFDEEC"/>
          </a:solidFill>
          <a:ln w="10160">
            <a:solidFill>
              <a:srgbClr val="6191A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2" name="single-person-head"/>
          <p:cNvSpPr/>
          <p:nvPr/>
        </p:nvSpPr>
        <p:spPr>
          <a:xfrm>
            <a:off x="5729288" y="814388"/>
            <a:ext cx="66675" cy="66675"/>
          </a:xfrm>
          <a:prstGeom prst="ellipse">
            <a:avLst/>
          </a:prstGeom>
          <a:solidFill>
            <a:srgbClr val="D9D9D9"/>
          </a:solidFill>
          <a:ln w="6350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3" name="single-person-shoulders"/>
          <p:cNvSpPr/>
          <p:nvPr/>
        </p:nvSpPr>
        <p:spPr>
          <a:xfrm>
            <a:off x="5686425" y="885825"/>
            <a:ext cx="152400" cy="85725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21600"/>
                </a:moveTo>
                <a:cubicBezTo>
                  <a:pt x="0" y="-4800"/>
                  <a:pt x="21600" y="-4800"/>
                  <a:pt x="21600" y="21600"/>
                </a:cubicBezTo>
              </a:path>
            </a:pathLst>
          </a:custGeom>
          <a:noFill/>
          <a:ln w="6985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4" name="latency-clock"/>
          <p:cNvSpPr/>
          <p:nvPr/>
        </p:nvSpPr>
        <p:spPr>
          <a:xfrm>
            <a:off x="5829300" y="733425"/>
            <a:ext cx="95250" cy="114300"/>
          </a:xfrm>
          <a:prstGeom prst="ellipse">
            <a:avLst/>
          </a:prstGeom>
          <a:noFill/>
          <a:ln w="6985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5" name="reviewer-head"/>
          <p:cNvSpPr/>
          <p:nvPr/>
        </p:nvSpPr>
        <p:spPr>
          <a:xfrm>
            <a:off x="5639038" y="1324213"/>
            <a:ext cx="56674" cy="56674"/>
          </a:xfrm>
          <a:prstGeom prst="ellipse">
            <a:avLst/>
          </a:prstGeom>
          <a:solidFill>
            <a:srgbClr val="F3DEDB"/>
          </a:solidFill>
          <a:ln w="6350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6" name="reviewer-shoulders"/>
          <p:cNvSpPr/>
          <p:nvPr/>
        </p:nvSpPr>
        <p:spPr>
          <a:xfrm>
            <a:off x="5599747" y="1380872"/>
            <a:ext cx="129540" cy="72866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21600"/>
                </a:moveTo>
                <a:cubicBezTo>
                  <a:pt x="0" y="-4800"/>
                  <a:pt x="21600" y="-4800"/>
                  <a:pt x="21600" y="21600"/>
                </a:cubicBezTo>
              </a:path>
            </a:pathLst>
          </a:custGeom>
          <a:noFill/>
          <a:ln w="6985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7" name="reviewer-hair"/>
          <p:cNvSpPr/>
          <p:nvPr/>
        </p:nvSpPr>
        <p:spPr>
          <a:xfrm>
            <a:off x="5610225" y="12573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14400"/>
                </a:moveTo>
                <a:cubicBezTo>
                  <a:pt x="-1800" y="-7200"/>
                  <a:pt x="23400" y="-5400"/>
                  <a:pt x="21600" y="12600"/>
                </a:cubicBezTo>
              </a:path>
            </a:pathLst>
          </a:custGeom>
          <a:noFill/>
          <a:ln w="6985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8" name="reviewer-ball"/>
          <p:cNvSpPr/>
          <p:nvPr/>
        </p:nvSpPr>
        <p:spPr>
          <a:xfrm>
            <a:off x="5629275" y="1408001"/>
            <a:ext cx="76200" cy="76200"/>
          </a:xfrm>
          <a:prstGeom prst="ellipse">
            <a:avLst/>
          </a:prstGeom>
          <a:noFill/>
          <a:ln w="6985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9" name="gavel-head"/>
          <p:cNvSpPr/>
          <p:nvPr/>
        </p:nvSpPr>
        <p:spPr>
          <a:xfrm>
            <a:off x="5800725" y="1247775"/>
            <a:ext cx="104775" cy="47625"/>
          </a:xfrm>
          <a:prstGeom prst="parallelogram">
            <a:avLst/>
          </a:prstGeom>
          <a:solidFill>
            <a:srgbClr val="F3DED9"/>
          </a:solidFill>
          <a:ln w="6985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0" name="gavel-base"/>
          <p:cNvSpPr/>
          <p:nvPr/>
        </p:nvSpPr>
        <p:spPr>
          <a:xfrm>
            <a:off x="5791200" y="1362075"/>
            <a:ext cx="95250" cy="19050"/>
          </a:xfrm>
          <a:prstGeom prst="rect">
            <a:avLst/>
          </a:prstGeom>
          <a:solidFill>
            <a:srgbClr val="F3DED9"/>
          </a:solidFill>
          <a:ln w="6350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1" name="safety-shield"/>
          <p:cNvSpPr/>
          <p:nvPr/>
        </p:nvSpPr>
        <p:spPr>
          <a:xfrm flipV="1">
            <a:off x="5791200" y="1419225"/>
            <a:ext cx="123825" cy="123825"/>
          </a:xfrm>
          <a:prstGeom prst="pentagon">
            <a:avLst/>
          </a:prstGeom>
          <a:solidFill>
            <a:srgbClr val="F3DED9"/>
          </a:solidFill>
          <a:ln w="6985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2" name="safety-shield-inner"/>
          <p:cNvSpPr/>
          <p:nvPr/>
        </p:nvSpPr>
        <p:spPr>
          <a:xfrm flipV="1">
            <a:off x="5819775" y="1438275"/>
            <a:ext cx="66675" cy="76200"/>
          </a:xfrm>
          <a:prstGeom prst="pentagon">
            <a:avLst/>
          </a:prstGeom>
          <a:noFill/>
          <a:ln w="5080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3" name="q3"/>
          <p:cNvSpPr/>
          <p:nvPr/>
        </p:nvSpPr>
        <p:spPr>
          <a:xfrm>
            <a:off x="1704975" y="1781175"/>
            <a:ext cx="1876425" cy="361950"/>
          </a:xfrm>
          <a:prstGeom prst="diamond">
            <a:avLst/>
          </a:prstGeom>
          <a:solidFill>
            <a:srgbClr val="BFDEEC"/>
          </a:solidFill>
          <a:ln w="10160">
            <a:solidFill>
              <a:srgbClr val="6191A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4" name="q4"/>
          <p:cNvSpPr/>
          <p:nvPr/>
        </p:nvSpPr>
        <p:spPr>
          <a:xfrm>
            <a:off x="1704975" y="2314575"/>
            <a:ext cx="1876425" cy="419100"/>
          </a:xfrm>
          <a:prstGeom prst="diamond">
            <a:avLst/>
          </a:prstGeom>
          <a:solidFill>
            <a:srgbClr val="BFDEEC"/>
          </a:solidFill>
          <a:ln w="10160">
            <a:solidFill>
              <a:srgbClr val="6191A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5" name="h-top"/>
          <p:cNvSpPr/>
          <p:nvPr/>
        </p:nvSpPr>
        <p:spPr>
          <a:xfrm>
            <a:off x="5753100" y="1862137"/>
            <a:ext cx="76200" cy="47625"/>
          </a:xfrm>
          <a:prstGeom prst="rect">
            <a:avLst/>
          </a:prstGeom>
          <a:solidFill>
            <a:srgbClr val="F0F6E5"/>
          </a:solidFill>
          <a:ln w="6350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6" name="h-mid"/>
          <p:cNvSpPr/>
          <p:nvPr/>
        </p:nvSpPr>
        <p:spPr>
          <a:xfrm>
            <a:off x="5753100" y="1966913"/>
            <a:ext cx="76200" cy="47625"/>
          </a:xfrm>
          <a:prstGeom prst="rect">
            <a:avLst/>
          </a:prstGeom>
          <a:solidFill>
            <a:srgbClr val="F0F6E5"/>
          </a:solidFill>
          <a:ln w="6350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7" name="h-left"/>
          <p:cNvSpPr/>
          <p:nvPr/>
        </p:nvSpPr>
        <p:spPr>
          <a:xfrm>
            <a:off x="5667375" y="2052637"/>
            <a:ext cx="76200" cy="47625"/>
          </a:xfrm>
          <a:prstGeom prst="rect">
            <a:avLst/>
          </a:prstGeom>
          <a:solidFill>
            <a:srgbClr val="F0F6E5"/>
          </a:solidFill>
          <a:ln w="6350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8" name="h-bottom"/>
          <p:cNvSpPr/>
          <p:nvPr/>
        </p:nvSpPr>
        <p:spPr>
          <a:xfrm>
            <a:off x="5753100" y="2052637"/>
            <a:ext cx="76200" cy="47625"/>
          </a:xfrm>
          <a:prstGeom prst="rect">
            <a:avLst/>
          </a:prstGeom>
          <a:solidFill>
            <a:srgbClr val="F0F6E5"/>
          </a:solidFill>
          <a:ln w="6350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9" name="h-right"/>
          <p:cNvSpPr/>
          <p:nvPr/>
        </p:nvSpPr>
        <p:spPr>
          <a:xfrm>
            <a:off x="5838825" y="2052637"/>
            <a:ext cx="76200" cy="47625"/>
          </a:xfrm>
          <a:prstGeom prst="rect">
            <a:avLst/>
          </a:prstGeom>
          <a:solidFill>
            <a:srgbClr val="F0F6E5"/>
          </a:solidFill>
          <a:ln w="6350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0" name="chat-left"/>
          <p:cNvSpPr/>
          <p:nvPr/>
        </p:nvSpPr>
        <p:spPr>
          <a:xfrm>
            <a:off x="5676900" y="2819400"/>
            <a:ext cx="171450" cy="104775"/>
          </a:xfrm>
          <a:prstGeom prst="wedgeRectCallout">
            <a:avLst/>
          </a:prstGeom>
          <a:solidFill>
            <a:srgbClr val="E7F2F8"/>
          </a:solidFill>
          <a:ln w="6985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1" name="chat-right"/>
          <p:cNvSpPr/>
          <p:nvPr/>
        </p:nvSpPr>
        <p:spPr>
          <a:xfrm flipH="1">
            <a:off x="5762625" y="2876550"/>
            <a:ext cx="171450" cy="104775"/>
          </a:xfrm>
          <a:prstGeom prst="wedgeRectCallout">
            <a:avLst/>
          </a:prstGeom>
          <a:solidFill>
            <a:srgbClr val="D9EAF3"/>
          </a:solidFill>
          <a:ln w="6985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2" name="mesh-node-0"/>
          <p:cNvSpPr/>
          <p:nvPr/>
        </p:nvSpPr>
        <p:spPr>
          <a:xfrm>
            <a:off x="5691188" y="2414587"/>
            <a:ext cx="47625" cy="47625"/>
          </a:xfrm>
          <a:prstGeom prst="ellipse">
            <a:avLst/>
          </a:prstGeom>
          <a:solidFill>
            <a:srgbClr val="FFF3DF"/>
          </a:solidFill>
          <a:ln w="6350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3" name="mesh-node-1"/>
          <p:cNvSpPr/>
          <p:nvPr/>
        </p:nvSpPr>
        <p:spPr>
          <a:xfrm>
            <a:off x="5776912" y="2395538"/>
            <a:ext cx="47625" cy="47625"/>
          </a:xfrm>
          <a:prstGeom prst="ellipse">
            <a:avLst/>
          </a:prstGeom>
          <a:solidFill>
            <a:srgbClr val="FFF3DF"/>
          </a:solidFill>
          <a:ln w="6350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4" name="mesh-node-2"/>
          <p:cNvSpPr/>
          <p:nvPr/>
        </p:nvSpPr>
        <p:spPr>
          <a:xfrm>
            <a:off x="5862638" y="2424112"/>
            <a:ext cx="47625" cy="47625"/>
          </a:xfrm>
          <a:prstGeom prst="ellipse">
            <a:avLst/>
          </a:prstGeom>
          <a:solidFill>
            <a:srgbClr val="FFF3DF"/>
          </a:solidFill>
          <a:ln w="6350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5" name="mesh-node-3"/>
          <p:cNvSpPr/>
          <p:nvPr/>
        </p:nvSpPr>
        <p:spPr>
          <a:xfrm>
            <a:off x="5653088" y="2490788"/>
            <a:ext cx="47625" cy="47625"/>
          </a:xfrm>
          <a:prstGeom prst="ellipse">
            <a:avLst/>
          </a:prstGeom>
          <a:solidFill>
            <a:srgbClr val="FFF3DF"/>
          </a:solidFill>
          <a:ln w="6350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6" name="mesh-node-4"/>
          <p:cNvSpPr/>
          <p:nvPr/>
        </p:nvSpPr>
        <p:spPr>
          <a:xfrm>
            <a:off x="5757862" y="2490788"/>
            <a:ext cx="47625" cy="47625"/>
          </a:xfrm>
          <a:prstGeom prst="ellipse">
            <a:avLst/>
          </a:prstGeom>
          <a:solidFill>
            <a:srgbClr val="FFF3DF"/>
          </a:solidFill>
          <a:ln w="6350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7" name="mesh-node-5"/>
          <p:cNvSpPr/>
          <p:nvPr/>
        </p:nvSpPr>
        <p:spPr>
          <a:xfrm>
            <a:off x="5843588" y="2528888"/>
            <a:ext cx="47625" cy="47625"/>
          </a:xfrm>
          <a:prstGeom prst="ellipse">
            <a:avLst/>
          </a:prstGeom>
          <a:solidFill>
            <a:srgbClr val="FFF3DF"/>
          </a:solidFill>
          <a:ln w="6350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8" name="mesh-node-6"/>
          <p:cNvSpPr/>
          <p:nvPr/>
        </p:nvSpPr>
        <p:spPr>
          <a:xfrm>
            <a:off x="5719763" y="2586038"/>
            <a:ext cx="47625" cy="47625"/>
          </a:xfrm>
          <a:prstGeom prst="ellipse">
            <a:avLst/>
          </a:prstGeom>
          <a:solidFill>
            <a:srgbClr val="FFF3DF"/>
          </a:solidFill>
          <a:ln w="6350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9" name="chat-content-0"/>
          <p:cNvSpPr/>
          <p:nvPr/>
        </p:nvSpPr>
        <p:spPr>
          <a:xfrm>
            <a:off x="5705475" y="2847975"/>
            <a:ext cx="104775" cy="0"/>
          </a:xfrm>
          <a:prstGeom prst="line">
            <a:avLst/>
          </a:prstGeom>
          <a:noFill/>
          <a:ln w="5080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0" name="chat-content-1"/>
          <p:cNvSpPr/>
          <p:nvPr/>
        </p:nvSpPr>
        <p:spPr>
          <a:xfrm>
            <a:off x="5705475" y="2876550"/>
            <a:ext cx="104775" cy="0"/>
          </a:xfrm>
          <a:prstGeom prst="line">
            <a:avLst/>
          </a:prstGeom>
          <a:noFill/>
          <a:ln w="5080">
            <a:solidFill>
              <a:srgbClr val="384C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1" name="TextBox 71"/>
          <p:cNvSpPr txBox="1"/>
          <p:nvPr/>
        </p:nvSpPr>
        <p:spPr>
          <a:xfrm>
            <a:off x="1838325" y="276225"/>
            <a:ext cx="1638300" cy="114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620" dirty="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Input: Target QA Application Scenario</a:t>
            </a:r>
            <a:endParaRPr lang="zh-CN" sz="620" dirty="0"/>
          </a:p>
        </p:txBody>
      </p:sp>
      <p:sp>
        <p:nvSpPr>
          <p:cNvPr id="72" name="TextBox 72"/>
          <p:cNvSpPr txBox="1"/>
          <p:nvPr/>
        </p:nvSpPr>
        <p:spPr>
          <a:xfrm>
            <a:off x="1838325" y="390525"/>
            <a:ext cx="1638300" cy="114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670" dirty="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(Assess Key Decision Factors)</a:t>
            </a:r>
            <a:endParaRPr lang="zh-CN" sz="670" dirty="0"/>
          </a:p>
        </p:txBody>
      </p:sp>
      <p:sp>
        <p:nvSpPr>
          <p:cNvPr id="73" name="TextBox 73"/>
          <p:cNvSpPr txBox="1"/>
          <p:nvPr/>
        </p:nvSpPr>
        <p:spPr>
          <a:xfrm>
            <a:off x="742950" y="628650"/>
            <a:ext cx="1238250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810" b="1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Phase 1: Pre-screening</a:t>
            </a:r>
            <a:endParaRPr lang="zh-CN" sz="810"/>
          </a:p>
        </p:txBody>
      </p:sp>
      <p:sp>
        <p:nvSpPr>
          <p:cNvPr id="74" name="TextBox 74"/>
          <p:cNvSpPr txBox="1"/>
          <p:nvPr/>
        </p:nvSpPr>
        <p:spPr>
          <a:xfrm>
            <a:off x="1847850" y="714375"/>
            <a:ext cx="15716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480" dirty="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Is task complexity low and</a:t>
            </a:r>
            <a:endParaRPr lang="zh-CN" sz="480" dirty="0"/>
          </a:p>
          <a:p>
            <a:pPr algn="ctr"/>
            <a:r>
              <a:rPr lang="zh-CN" sz="480" dirty="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specialization requirement not</a:t>
            </a:r>
            <a:endParaRPr lang="zh-CN" sz="480" dirty="0"/>
          </a:p>
          <a:p>
            <a:pPr algn="ctr"/>
            <a:r>
              <a:rPr lang="zh-CN" sz="480" dirty="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high?</a:t>
            </a:r>
            <a:endParaRPr lang="zh-CN" sz="480" dirty="0"/>
          </a:p>
        </p:txBody>
      </p:sp>
      <p:sp>
        <p:nvSpPr>
          <p:cNvPr id="75" name="TextBox 75"/>
          <p:cNvSpPr txBox="1"/>
          <p:nvPr/>
        </p:nvSpPr>
        <p:spPr>
          <a:xfrm>
            <a:off x="1847850" y="1247775"/>
            <a:ext cx="15716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480" dirty="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Is it in fields with high safety &amp;</a:t>
            </a:r>
            <a:endParaRPr lang="zh-CN" sz="480" dirty="0"/>
          </a:p>
          <a:p>
            <a:pPr algn="ctr"/>
            <a:r>
              <a:rPr lang="zh-CN" sz="480" dirty="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compliance requirements like</a:t>
            </a:r>
            <a:endParaRPr lang="zh-CN" sz="480" dirty="0"/>
          </a:p>
          <a:p>
            <a:pPr algn="ctr"/>
            <a:r>
              <a:rPr lang="zh-CN" sz="480" dirty="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Medical/Legal?</a:t>
            </a:r>
            <a:endParaRPr lang="zh-CN" sz="480" dirty="0"/>
          </a:p>
        </p:txBody>
      </p:sp>
      <p:sp>
        <p:nvSpPr>
          <p:cNvPr id="76" name="TextBox 76"/>
          <p:cNvSpPr txBox="1"/>
          <p:nvPr/>
        </p:nvSpPr>
        <p:spPr>
          <a:xfrm>
            <a:off x="3648075" y="733425"/>
            <a:ext cx="95250" cy="114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74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T</a:t>
            </a:r>
            <a:endParaRPr lang="zh-CN" sz="740"/>
          </a:p>
        </p:txBody>
      </p:sp>
      <p:sp>
        <p:nvSpPr>
          <p:cNvPr id="77" name="TextBox 77"/>
          <p:cNvSpPr txBox="1"/>
          <p:nvPr/>
        </p:nvSpPr>
        <p:spPr>
          <a:xfrm>
            <a:off x="2705100" y="1057275"/>
            <a:ext cx="95250" cy="114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74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F</a:t>
            </a:r>
            <a:endParaRPr lang="zh-CN" sz="740"/>
          </a:p>
        </p:txBody>
      </p:sp>
      <p:sp>
        <p:nvSpPr>
          <p:cNvPr id="78" name="TextBox 78"/>
          <p:cNvSpPr txBox="1"/>
          <p:nvPr/>
        </p:nvSpPr>
        <p:spPr>
          <a:xfrm>
            <a:off x="3648075" y="1266825"/>
            <a:ext cx="95250" cy="114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74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T</a:t>
            </a:r>
            <a:endParaRPr lang="zh-CN" sz="740"/>
          </a:p>
        </p:txBody>
      </p:sp>
      <p:sp>
        <p:nvSpPr>
          <p:cNvPr id="79" name="TextBox 79"/>
          <p:cNvSpPr txBox="1"/>
          <p:nvPr/>
        </p:nvSpPr>
        <p:spPr>
          <a:xfrm>
            <a:off x="2705100" y="1600200"/>
            <a:ext cx="95250" cy="114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74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F</a:t>
            </a:r>
            <a:endParaRPr lang="zh-CN" sz="740"/>
          </a:p>
        </p:txBody>
      </p:sp>
      <p:sp>
        <p:nvSpPr>
          <p:cNvPr id="80" name="TextBox 80"/>
          <p:cNvSpPr txBox="1"/>
          <p:nvPr/>
        </p:nvSpPr>
        <p:spPr>
          <a:xfrm>
            <a:off x="3962400" y="733425"/>
            <a:ext cx="1704975" cy="114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540" b="1" dirty="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Single-Agent </a:t>
            </a:r>
            <a:r>
              <a:rPr lang="zh-CN" sz="540" dirty="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Low latency, low cost.</a:t>
            </a:r>
            <a:endParaRPr lang="zh-CN" sz="540" dirty="0"/>
          </a:p>
        </p:txBody>
      </p:sp>
      <p:sp>
        <p:nvSpPr>
          <p:cNvPr id="81" name="TextBox 81"/>
          <p:cNvSpPr txBox="1"/>
          <p:nvPr/>
        </p:nvSpPr>
        <p:spPr>
          <a:xfrm>
            <a:off x="3962400" y="847725"/>
            <a:ext cx="1724025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450" dirty="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Suitable for: Simple fact query,</a:t>
            </a:r>
            <a:endParaRPr lang="zh-CN" sz="450" dirty="0"/>
          </a:p>
          <a:p>
            <a:pPr algn="l"/>
            <a:r>
              <a:rPr lang="zh-CN" sz="450" dirty="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single-step reasoning tasks</a:t>
            </a:r>
            <a:endParaRPr lang="zh-CN" sz="450" dirty="0"/>
          </a:p>
        </p:txBody>
      </p:sp>
      <p:sp>
        <p:nvSpPr>
          <p:cNvPr id="82" name="TextBox 82"/>
          <p:cNvSpPr txBox="1"/>
          <p:nvPr/>
        </p:nvSpPr>
        <p:spPr>
          <a:xfrm>
            <a:off x="3962400" y="1257300"/>
            <a:ext cx="1704975" cy="114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540" b="1" dirty="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Hybrid + HITL </a:t>
            </a:r>
            <a:r>
              <a:rPr lang="zh-CN" sz="540" dirty="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Human review at key points.</a:t>
            </a:r>
            <a:endParaRPr lang="zh-CN" sz="540" dirty="0"/>
          </a:p>
        </p:txBody>
      </p:sp>
      <p:sp>
        <p:nvSpPr>
          <p:cNvPr id="83" name="TextBox 83"/>
          <p:cNvSpPr txBox="1"/>
          <p:nvPr/>
        </p:nvSpPr>
        <p:spPr>
          <a:xfrm>
            <a:off x="3962400" y="1371600"/>
            <a:ext cx="1476375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450" dirty="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Suitable for: Medical diagnosis, legal consultation,</a:t>
            </a:r>
            <a:endParaRPr lang="zh-CN" sz="450" dirty="0"/>
          </a:p>
          <a:p>
            <a:pPr algn="l"/>
            <a:r>
              <a:rPr lang="zh-CN" sz="450" dirty="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financial risk control</a:t>
            </a:r>
            <a:endParaRPr lang="zh-CN" sz="450" dirty="0"/>
          </a:p>
        </p:txBody>
      </p:sp>
      <p:sp>
        <p:nvSpPr>
          <p:cNvPr id="84" name="TextBox 84"/>
          <p:cNvSpPr txBox="1"/>
          <p:nvPr/>
        </p:nvSpPr>
        <p:spPr>
          <a:xfrm>
            <a:off x="742950" y="1704975"/>
            <a:ext cx="1171575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810" b="1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Phase 2: Selection</a:t>
            </a:r>
            <a:endParaRPr lang="zh-CN" sz="810"/>
          </a:p>
        </p:txBody>
      </p:sp>
      <p:sp>
        <p:nvSpPr>
          <p:cNvPr id="85" name="TextBox 85"/>
          <p:cNvSpPr txBox="1"/>
          <p:nvPr/>
        </p:nvSpPr>
        <p:spPr>
          <a:xfrm>
            <a:off x="1847850" y="1809750"/>
            <a:ext cx="15716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480" dirty="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Is task workflow highly standardized</a:t>
            </a:r>
            <a:endParaRPr lang="zh-CN" sz="480" dirty="0"/>
          </a:p>
          <a:p>
            <a:pPr algn="ctr"/>
            <a:r>
              <a:rPr lang="zh-CN" sz="480" dirty="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with clear serial dependencies?</a:t>
            </a:r>
            <a:endParaRPr lang="zh-CN" sz="480" dirty="0"/>
          </a:p>
        </p:txBody>
      </p:sp>
      <p:sp>
        <p:nvSpPr>
          <p:cNvPr id="86" name="TextBox 86"/>
          <p:cNvSpPr txBox="1"/>
          <p:nvPr/>
        </p:nvSpPr>
        <p:spPr>
          <a:xfrm>
            <a:off x="1847850" y="2343150"/>
            <a:ext cx="1571625" cy="361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480" dirty="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Does task difficulty fluctuate widely with</a:t>
            </a:r>
            <a:endParaRPr lang="zh-CN" sz="480" dirty="0"/>
          </a:p>
          <a:p>
            <a:pPr algn="ctr"/>
            <a:r>
              <a:rPr lang="zh-CN" sz="480" dirty="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complex cross-domain multi-hop reasoning?</a:t>
            </a:r>
            <a:endParaRPr lang="zh-CN" sz="480" dirty="0"/>
          </a:p>
        </p:txBody>
      </p:sp>
      <p:sp>
        <p:nvSpPr>
          <p:cNvPr id="87" name="TextBox 87"/>
          <p:cNvSpPr txBox="1"/>
          <p:nvPr/>
        </p:nvSpPr>
        <p:spPr>
          <a:xfrm>
            <a:off x="3648075" y="1838325"/>
            <a:ext cx="95250" cy="114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74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T</a:t>
            </a:r>
            <a:endParaRPr lang="zh-CN" sz="740"/>
          </a:p>
        </p:txBody>
      </p:sp>
      <p:sp>
        <p:nvSpPr>
          <p:cNvPr id="88" name="TextBox 88"/>
          <p:cNvSpPr txBox="1"/>
          <p:nvPr/>
        </p:nvSpPr>
        <p:spPr>
          <a:xfrm>
            <a:off x="2705100" y="2162175"/>
            <a:ext cx="95250" cy="114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74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F</a:t>
            </a:r>
            <a:endParaRPr lang="zh-CN" sz="740"/>
          </a:p>
        </p:txBody>
      </p:sp>
      <p:sp>
        <p:nvSpPr>
          <p:cNvPr id="89" name="TextBox 89"/>
          <p:cNvSpPr txBox="1"/>
          <p:nvPr/>
        </p:nvSpPr>
        <p:spPr>
          <a:xfrm>
            <a:off x="3648075" y="2390775"/>
            <a:ext cx="95250" cy="114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74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T</a:t>
            </a:r>
            <a:endParaRPr lang="zh-CN" sz="740"/>
          </a:p>
        </p:txBody>
      </p:sp>
      <p:sp>
        <p:nvSpPr>
          <p:cNvPr id="90" name="TextBox 90"/>
          <p:cNvSpPr txBox="1"/>
          <p:nvPr/>
        </p:nvSpPr>
        <p:spPr>
          <a:xfrm>
            <a:off x="2695575" y="2743200"/>
            <a:ext cx="95250" cy="114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74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F</a:t>
            </a:r>
            <a:endParaRPr lang="zh-CN" sz="740"/>
          </a:p>
        </p:txBody>
      </p:sp>
      <p:sp>
        <p:nvSpPr>
          <p:cNvPr id="91" name="TextBox 91"/>
          <p:cNvSpPr txBox="1"/>
          <p:nvPr/>
        </p:nvSpPr>
        <p:spPr>
          <a:xfrm>
            <a:off x="3962400" y="1819275"/>
            <a:ext cx="1704975" cy="114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540" b="1" dirty="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Hierarchical </a:t>
            </a:r>
            <a:r>
              <a:rPr lang="zh-CN" sz="540" dirty="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Manager-Executor / RAG Pipeline</a:t>
            </a:r>
            <a:endParaRPr lang="zh-CN" sz="540" dirty="0"/>
          </a:p>
        </p:txBody>
      </p:sp>
      <p:sp>
        <p:nvSpPr>
          <p:cNvPr id="92" name="TextBox 92"/>
          <p:cNvSpPr txBox="1"/>
          <p:nvPr/>
        </p:nvSpPr>
        <p:spPr>
          <a:xfrm>
            <a:off x="3962400" y="1933575"/>
            <a:ext cx="1724025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450" dirty="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Suitable for: Knowledge-intensive QA,</a:t>
            </a:r>
            <a:endParaRPr lang="zh-CN" sz="450" dirty="0"/>
          </a:p>
          <a:p>
            <a:pPr algn="l"/>
            <a:r>
              <a:rPr lang="zh-CN" sz="450" dirty="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long document QA</a:t>
            </a:r>
            <a:endParaRPr lang="zh-CN" sz="450" dirty="0"/>
          </a:p>
        </p:txBody>
      </p:sp>
      <p:sp>
        <p:nvSpPr>
          <p:cNvPr id="93" name="TextBox 93"/>
          <p:cNvSpPr txBox="1"/>
          <p:nvPr/>
        </p:nvSpPr>
        <p:spPr>
          <a:xfrm>
            <a:off x="3962400" y="2381250"/>
            <a:ext cx="1704975" cy="114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540" b="1" dirty="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Hybrid </a:t>
            </a:r>
            <a:r>
              <a:rPr lang="zh-CN" sz="540" dirty="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Adaptive switching / Mesh network</a:t>
            </a:r>
            <a:endParaRPr lang="zh-CN" sz="540" dirty="0"/>
          </a:p>
        </p:txBody>
      </p:sp>
      <p:sp>
        <p:nvSpPr>
          <p:cNvPr id="94" name="TextBox 94"/>
          <p:cNvSpPr txBox="1"/>
          <p:nvPr/>
        </p:nvSpPr>
        <p:spPr>
          <a:xfrm>
            <a:off x="3962400" y="2495550"/>
            <a:ext cx="1724025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450" dirty="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Suitable for: Large complexity span,</a:t>
            </a:r>
            <a:endParaRPr lang="zh-CN" sz="450" dirty="0"/>
          </a:p>
          <a:p>
            <a:pPr algn="l"/>
            <a:r>
              <a:rPr lang="zh-CN" sz="450" dirty="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multi-hop reasoning</a:t>
            </a:r>
            <a:endParaRPr lang="zh-CN" sz="450" dirty="0"/>
          </a:p>
        </p:txBody>
      </p:sp>
      <p:sp>
        <p:nvSpPr>
          <p:cNvPr id="95" name="TextBox 95"/>
          <p:cNvSpPr txBox="1"/>
          <p:nvPr/>
        </p:nvSpPr>
        <p:spPr>
          <a:xfrm>
            <a:off x="3962400" y="2781300"/>
            <a:ext cx="1704975" cy="114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540" b="1" dirty="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Flat </a:t>
            </a:r>
            <a:r>
              <a:rPr lang="zh-CN" sz="540" dirty="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Multi-party debate / Role play / Group chat</a:t>
            </a:r>
            <a:endParaRPr lang="zh-CN" sz="540" dirty="0"/>
          </a:p>
        </p:txBody>
      </p:sp>
      <p:sp>
        <p:nvSpPr>
          <p:cNvPr id="96" name="TextBox 96"/>
          <p:cNvSpPr txBox="1"/>
          <p:nvPr/>
        </p:nvSpPr>
        <p:spPr>
          <a:xfrm>
            <a:off x="3962400" y="2895600"/>
            <a:ext cx="1724025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450" dirty="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Suitable for: Open-domain QA,</a:t>
            </a:r>
            <a:endParaRPr lang="zh-CN" sz="450" dirty="0"/>
          </a:p>
          <a:p>
            <a:pPr algn="l"/>
            <a:r>
              <a:rPr lang="zh-CN" sz="450" dirty="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multi-perspective verification</a:t>
            </a:r>
            <a:endParaRPr lang="zh-CN" sz="450" dirty="0"/>
          </a:p>
        </p:txBody>
      </p:sp>
      <p:sp>
        <p:nvSpPr>
          <p:cNvPr id="97" name="TextBox 97"/>
          <p:cNvSpPr txBox="1"/>
          <p:nvPr/>
        </p:nvSpPr>
        <p:spPr>
          <a:xfrm>
            <a:off x="742950" y="3133725"/>
            <a:ext cx="5257800" cy="114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620" dirty="0">
                <a:solidFill>
                  <a:srgbClr val="172127"/>
                </a:solidFill>
                <a:latin typeface="Arial Narrow"/>
                <a:ea typeface="Arial Narrow"/>
                <a:cs typeface="Arial Narrow"/>
              </a:rPr>
              <a:t>Note: Phase 1 judgment is a hard constraint; Phase 2 is a preferred recommendation, practice can be balanced with team capabilities &amp; budget constraints.</a:t>
            </a:r>
            <a:endParaRPr lang="zh-CN" sz="6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Microsoft YaHei">
      <a:majorFont>
        <a:latin typeface="Microsoft YaHei"/>
        <a:ea typeface="Microsoft YaHei"/>
        <a:cs typeface="Microsoft YaHei"/>
      </a:majorFont>
      <a:minorFont>
        <a:latin typeface="Microsoft YaHei"/>
        <a:ea typeface="Microsoft YaHei"/>
        <a:cs typeface="Microsoft YaHei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c2917835-e376-4a9b-97c4-07e18331d57c}" enabled="1" method="Standard" siteId="{4944a6fe-8b0f-447a-8e35-cec5e80a5ce0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943</Words>
  <Application>Microsoft Office PowerPoint</Application>
  <PresentationFormat>Custom</PresentationFormat>
  <Paragraphs>38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Arial Narrow</vt:lpstr>
      <vt:lpstr>ImageToEditablePPT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Image to editable PPT</dc:title>
  <cp:lastModifiedBy>Shen, Tianyu (CN-TV-T1)</cp:lastModifiedBy>
  <cp:revision>2</cp:revision>
  <dcterms:modified xsi:type="dcterms:W3CDTF">2026-10-13T08:26:29Z</dcterms:modified>
</cp:coreProperties>
</file>