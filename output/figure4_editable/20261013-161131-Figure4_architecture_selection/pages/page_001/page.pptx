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229350" cy="32956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1-background"/>
          <p:cNvSpPr/>
          <p:nvPr/>
        </p:nvSpPr>
        <p:spPr>
          <a:xfrm>
            <a:off x="685800" y="600075"/>
            <a:ext cx="5362575" cy="1028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hase2-background"/>
          <p:cNvSpPr/>
          <p:nvPr/>
        </p:nvSpPr>
        <p:spPr>
          <a:xfrm>
            <a:off x="685800" y="1676400"/>
            <a:ext cx="5362575" cy="1419225"/>
          </a:xfrm>
          <a:prstGeom prst="rect">
            <a:avLst/>
          </a:prstGeom>
          <a:solidFill>
            <a:srgbClr val="E4F4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hase-divider"/>
          <p:cNvSpPr/>
          <p:nvPr/>
        </p:nvSpPr>
        <p:spPr>
          <a:xfrm>
            <a:off x="685800" y="1666875"/>
            <a:ext cx="5362575" cy="0"/>
          </a:xfrm>
          <a:prstGeom prst="line">
            <a:avLst/>
          </a:prstGeom>
          <a:noFill/>
          <a:ln w="10795">
            <a:solidFill>
              <a:srgbClr val="6799B0"/>
            </a:solidFill>
            <a:prstDash val="dash"/>
          </a:ln>
        </p:spPr>
        <p:txBody>
          <a:bodyPr/>
          <a:lstStyle/>
          <a:p/>
        </p:txBody>
      </p:sp>
      <p:sp>
        <p:nvSpPr>
          <p:cNvPr id="5" name="input-card"/>
          <p:cNvSpPr/>
          <p:nvPr/>
        </p:nvSpPr>
        <p:spPr>
          <a:xfrm>
            <a:off x="1771650" y="247650"/>
            <a:ext cx="1771650" cy="295275"/>
          </a:xfrm>
          <a:prstGeom prst="roundRect">
            <a:avLst>
              <a:gd name="adj" fmla="val 19355"/>
            </a:avLst>
          </a:prstGeom>
          <a:solidFill>
            <a:srgbClr val="EAEAEA"/>
          </a:solidFill>
          <a:ln w="9525">
            <a:solidFill>
              <a:srgbClr val="969696"/>
            </a:solidFill>
          </a:ln>
        </p:spPr>
        <p:txBody>
          <a:bodyPr/>
          <a:lstStyle/>
          <a:p/>
        </p:txBody>
      </p:sp>
      <p:sp>
        <p:nvSpPr>
          <p:cNvPr id="6" name="single"/>
          <p:cNvSpPr/>
          <p:nvPr/>
        </p:nvSpPr>
        <p:spPr>
          <a:xfrm>
            <a:off x="3867150" y="69532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FDFDF"/>
          </a:solidFill>
          <a:ln w="9525">
            <a:solidFill>
              <a:srgbClr val="8F8F8F"/>
            </a:solidFill>
          </a:ln>
        </p:spPr>
        <p:txBody>
          <a:bodyPr/>
          <a:lstStyle/>
          <a:p/>
        </p:txBody>
      </p:sp>
      <p:sp>
        <p:nvSpPr>
          <p:cNvPr id="7" name="hitl"/>
          <p:cNvSpPr/>
          <p:nvPr/>
        </p:nvSpPr>
        <p:spPr>
          <a:xfrm>
            <a:off x="3867150" y="1219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6C9C4"/>
          </a:solidFill>
          <a:ln w="9525">
            <a:solidFill>
              <a:srgbClr val="BA746D"/>
            </a:solidFill>
          </a:ln>
        </p:spPr>
        <p:txBody>
          <a:bodyPr/>
          <a:lstStyle/>
          <a:p/>
        </p:txBody>
      </p:sp>
      <p:sp>
        <p:nvSpPr>
          <p:cNvPr id="8" name="hierarchy"/>
          <p:cNvSpPr/>
          <p:nvPr/>
        </p:nvSpPr>
        <p:spPr>
          <a:xfrm>
            <a:off x="3867150" y="178117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DEBC5"/>
          </a:solidFill>
          <a:ln w="9525">
            <a:solidFill>
              <a:srgbClr val="819D64"/>
            </a:solidFill>
          </a:ln>
        </p:spPr>
        <p:txBody>
          <a:bodyPr/>
          <a:lstStyle/>
          <a:p/>
        </p:txBody>
      </p:sp>
      <p:sp>
        <p:nvSpPr>
          <p:cNvPr id="9" name="adaptive"/>
          <p:cNvSpPr/>
          <p:nvPr/>
        </p:nvSpPr>
        <p:spPr>
          <a:xfrm>
            <a:off x="3867150" y="234315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FE0B7"/>
          </a:solidFill>
          <a:ln w="9525">
            <a:solidFill>
              <a:srgbClr val="C69958"/>
            </a:solidFill>
          </a:ln>
        </p:spPr>
        <p:txBody>
          <a:bodyPr/>
          <a:lstStyle/>
          <a:p/>
        </p:txBody>
      </p:sp>
      <p:sp>
        <p:nvSpPr>
          <p:cNvPr id="10" name="flat"/>
          <p:cNvSpPr/>
          <p:nvPr/>
        </p:nvSpPr>
        <p:spPr>
          <a:xfrm>
            <a:off x="3867150" y="2743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CAE4F1"/>
          </a:solidFill>
          <a:ln w="9525">
            <a:solidFill>
              <a:srgbClr val="6191A6"/>
            </a:solidFill>
          </a:ln>
        </p:spPr>
        <p:txBody>
          <a:bodyPr/>
          <a:lstStyle/>
          <a:p/>
        </p:txBody>
      </p:sp>
      <p:cxnSp>
        <p:nvCxnSpPr>
          <p:cNvPr id="11" name="input-to-q1"/>
          <p:cNvCxnSpPr/>
          <p:nvPr/>
        </p:nvCxnSpPr>
        <p:spPr>
          <a:xfrm>
            <a:off x="2657475" y="542925"/>
            <a:ext cx="0" cy="142875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2" name="q1-true"/>
          <p:cNvCxnSpPr/>
          <p:nvPr/>
        </p:nvCxnSpPr>
        <p:spPr>
          <a:xfrm>
            <a:off x="3581400" y="8667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3" name="q1-false"/>
          <p:cNvCxnSpPr/>
          <p:nvPr/>
        </p:nvCxnSpPr>
        <p:spPr>
          <a:xfrm>
            <a:off x="2657475" y="10477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4" name="q2-true"/>
          <p:cNvCxnSpPr/>
          <p:nvPr/>
        </p:nvCxnSpPr>
        <p:spPr>
          <a:xfrm>
            <a:off x="3581400" y="14001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5" name="q2-false"/>
          <p:cNvCxnSpPr/>
          <p:nvPr/>
        </p:nvCxnSpPr>
        <p:spPr>
          <a:xfrm>
            <a:off x="2657475" y="15811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16" name="clock-hand1"/>
          <p:cNvSpPr/>
          <p:nvPr/>
        </p:nvSpPr>
        <p:spPr>
          <a:xfrm>
            <a:off x="5876925" y="762000"/>
            <a:ext cx="0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17" name="clock-hand2"/>
          <p:cNvSpPr/>
          <p:nvPr/>
        </p:nvSpPr>
        <p:spPr>
          <a:xfrm>
            <a:off x="5876925" y="790575"/>
            <a:ext cx="28575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18" name="reviewer-hand"/>
          <p:cNvSpPr/>
          <p:nvPr/>
        </p:nvSpPr>
        <p:spPr>
          <a:xfrm flipH="1">
            <a:off x="5572125" y="1409700"/>
            <a:ext cx="28575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19" name="gavel-handle"/>
          <p:cNvSpPr/>
          <p:nvPr/>
        </p:nvSpPr>
        <p:spPr>
          <a:xfrm>
            <a:off x="5848350" y="1304925"/>
            <a:ext cx="47625" cy="57150"/>
          </a:xfrm>
          <a:prstGeom prst="line">
            <a:avLst/>
          </a:prstGeom>
          <a:noFill/>
          <a:ln w="13970">
            <a:solidFill>
              <a:srgbClr val="384C57"/>
            </a:solidFill>
          </a:ln>
        </p:spPr>
        <p:txBody>
          <a:bodyPr/>
          <a:lstStyle/>
          <a:p/>
        </p:txBody>
      </p:sp>
      <p:cxnSp>
        <p:nvCxnSpPr>
          <p:cNvPr id="20" name="q3-true"/>
          <p:cNvCxnSpPr/>
          <p:nvPr/>
        </p:nvCxnSpPr>
        <p:spPr>
          <a:xfrm>
            <a:off x="3581400" y="1962150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1" name="q3-false"/>
          <p:cNvCxnSpPr/>
          <p:nvPr/>
        </p:nvCxnSpPr>
        <p:spPr>
          <a:xfrm>
            <a:off x="2657475" y="2143125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2" name="q4-true"/>
          <p:cNvCxnSpPr/>
          <p:nvPr/>
        </p:nvCxnSpPr>
        <p:spPr>
          <a:xfrm>
            <a:off x="3581400" y="252412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3" name="q4-false"/>
          <p:cNvCxnSpPr/>
          <p:nvPr/>
        </p:nvCxnSpPr>
        <p:spPr>
          <a:xfrm>
            <a:off x="2657475" y="2733675"/>
            <a:ext cx="1209675" cy="180975"/>
          </a:xfrm>
          <a:prstGeom prst="bentConnector3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24" name="h-line1"/>
          <p:cNvSpPr/>
          <p:nvPr/>
        </p:nvSpPr>
        <p:spPr>
          <a:xfrm>
            <a:off x="5791200" y="1914525"/>
            <a:ext cx="0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25" name="h-line2"/>
          <p:cNvSpPr/>
          <p:nvPr/>
        </p:nvSpPr>
        <p:spPr>
          <a:xfrm>
            <a:off x="5791200" y="2009775"/>
            <a:ext cx="0" cy="2857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26" name="h-left-edge"/>
          <p:cNvSpPr/>
          <p:nvPr/>
        </p:nvSpPr>
        <p:spPr>
          <a:xfrm flipH="1">
            <a:off x="5705475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27" name="h-right-edge"/>
          <p:cNvSpPr/>
          <p:nvPr/>
        </p:nvSpPr>
        <p:spPr>
          <a:xfrm>
            <a:off x="5791200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28" name="mesh-edge-0"/>
          <p:cNvSpPr/>
          <p:nvPr/>
        </p:nvSpPr>
        <p:spPr>
          <a:xfrm flipV="1">
            <a:off x="5715000" y="2419350"/>
            <a:ext cx="85725" cy="190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29" name="mesh-edge-1"/>
          <p:cNvSpPr/>
          <p:nvPr/>
        </p:nvSpPr>
        <p:spPr>
          <a:xfrm>
            <a:off x="5800725" y="2419350"/>
            <a:ext cx="85725" cy="285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0" name="mesh-edge-2"/>
          <p:cNvSpPr/>
          <p:nvPr/>
        </p:nvSpPr>
        <p:spPr>
          <a:xfrm flipH="1">
            <a:off x="5676900" y="2438400"/>
            <a:ext cx="38100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1" name="mesh-edge-3"/>
          <p:cNvSpPr/>
          <p:nvPr/>
        </p:nvSpPr>
        <p:spPr>
          <a:xfrm>
            <a:off x="5715000" y="2438400"/>
            <a:ext cx="66675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2" name="mesh-edge-4"/>
          <p:cNvSpPr/>
          <p:nvPr/>
        </p:nvSpPr>
        <p:spPr>
          <a:xfrm flipH="1">
            <a:off x="5781675" y="2419350"/>
            <a:ext cx="1905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3" name="mesh-edge-5"/>
          <p:cNvSpPr/>
          <p:nvPr/>
        </p:nvSpPr>
        <p:spPr>
          <a:xfrm flipH="1">
            <a:off x="5781675" y="2447925"/>
            <a:ext cx="104775" cy="666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4" name="mesh-edge-6"/>
          <p:cNvSpPr/>
          <p:nvPr/>
        </p:nvSpPr>
        <p:spPr>
          <a:xfrm flipH="1">
            <a:off x="5867400" y="2447925"/>
            <a:ext cx="19050" cy="1047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5" name="mesh-edge-7"/>
          <p:cNvSpPr/>
          <p:nvPr/>
        </p:nvSpPr>
        <p:spPr>
          <a:xfrm>
            <a:off x="5676900" y="2514600"/>
            <a:ext cx="104775" cy="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6" name="mesh-edge-8"/>
          <p:cNvSpPr/>
          <p:nvPr/>
        </p:nvSpPr>
        <p:spPr>
          <a:xfrm>
            <a:off x="5676900" y="2514600"/>
            <a:ext cx="66675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7" name="mesh-edge-9"/>
          <p:cNvSpPr/>
          <p:nvPr/>
        </p:nvSpPr>
        <p:spPr>
          <a:xfrm>
            <a:off x="5781675" y="2514600"/>
            <a:ext cx="85725" cy="381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8" name="mesh-edge-10"/>
          <p:cNvSpPr/>
          <p:nvPr/>
        </p:nvSpPr>
        <p:spPr>
          <a:xfrm flipH="1">
            <a:off x="5743575" y="2514600"/>
            <a:ext cx="3810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39" name="mesh-edge-11"/>
          <p:cNvSpPr/>
          <p:nvPr/>
        </p:nvSpPr>
        <p:spPr>
          <a:xfrm flipH="1">
            <a:off x="5743575" y="2552700"/>
            <a:ext cx="123825" cy="571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0" name="q1"/>
          <p:cNvSpPr/>
          <p:nvPr/>
        </p:nvSpPr>
        <p:spPr>
          <a:xfrm>
            <a:off x="1704975" y="6858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/>
        </p:txBody>
      </p:sp>
      <p:sp>
        <p:nvSpPr>
          <p:cNvPr id="41" name="q2"/>
          <p:cNvSpPr/>
          <p:nvPr/>
        </p:nvSpPr>
        <p:spPr>
          <a:xfrm>
            <a:off x="1704975" y="12192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/>
        </p:txBody>
      </p:sp>
      <p:sp>
        <p:nvSpPr>
          <p:cNvPr id="42" name="single-person-head"/>
          <p:cNvSpPr/>
          <p:nvPr/>
        </p:nvSpPr>
        <p:spPr>
          <a:xfrm>
            <a:off x="5729288" y="814388"/>
            <a:ext cx="66675" cy="66675"/>
          </a:xfrm>
          <a:prstGeom prst="ellipse">
            <a:avLst/>
          </a:prstGeom>
          <a:solidFill>
            <a:srgbClr val="D9D9D9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3" name="single-person-shoulders"/>
          <p:cNvSpPr/>
          <p:nvPr/>
        </p:nvSpPr>
        <p:spPr>
          <a:xfrm>
            <a:off x="5686425" y="885825"/>
            <a:ext cx="152400" cy="85725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4" name="latency-clock"/>
          <p:cNvSpPr/>
          <p:nvPr/>
        </p:nvSpPr>
        <p:spPr>
          <a:xfrm>
            <a:off x="5829300" y="733425"/>
            <a:ext cx="95250" cy="1143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5" name="reviewer-head"/>
          <p:cNvSpPr/>
          <p:nvPr/>
        </p:nvSpPr>
        <p:spPr>
          <a:xfrm>
            <a:off x="5639038" y="1324213"/>
            <a:ext cx="56674" cy="56674"/>
          </a:xfrm>
          <a:prstGeom prst="ellipse">
            <a:avLst/>
          </a:prstGeom>
          <a:solidFill>
            <a:srgbClr val="F3DEDB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6" name="reviewer-shoulders"/>
          <p:cNvSpPr/>
          <p:nvPr/>
        </p:nvSpPr>
        <p:spPr>
          <a:xfrm>
            <a:off x="5602605" y="1384935"/>
            <a:ext cx="129540" cy="72866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7" name="reviewer-hair"/>
          <p:cNvSpPr/>
          <p:nvPr/>
        </p:nvSpPr>
        <p:spPr>
          <a:xfrm>
            <a:off x="5610225" y="1257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0" y="14400"/>
                </a:moveTo>
                <a:cubicBezTo>
                  <a:pt x="-1800" y="-7200"/>
                  <a:pt x="23400" y="-5400"/>
                  <a:pt x="21600" y="12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8" name="reviewer-ball"/>
          <p:cNvSpPr/>
          <p:nvPr/>
        </p:nvSpPr>
        <p:spPr>
          <a:xfrm>
            <a:off x="5581650" y="1400175"/>
            <a:ext cx="76200" cy="762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49" name="gavel-head"/>
          <p:cNvSpPr/>
          <p:nvPr/>
        </p:nvSpPr>
        <p:spPr>
          <a:xfrm>
            <a:off x="5800725" y="1247775"/>
            <a:ext cx="104775" cy="47625"/>
          </a:xfrm>
          <a:prstGeom prst="parallelogram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0" name="gavel-base"/>
          <p:cNvSpPr/>
          <p:nvPr/>
        </p:nvSpPr>
        <p:spPr>
          <a:xfrm>
            <a:off x="5791200" y="1362075"/>
            <a:ext cx="95250" cy="19050"/>
          </a:xfrm>
          <a:prstGeom prst="rect">
            <a:avLst/>
          </a:prstGeom>
          <a:solidFill>
            <a:srgbClr val="F3DED9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1" name="safety-shield"/>
          <p:cNvSpPr/>
          <p:nvPr/>
        </p:nvSpPr>
        <p:spPr>
          <a:xfrm flipV="1">
            <a:off x="5791200" y="1419225"/>
            <a:ext cx="123825" cy="123825"/>
          </a:xfrm>
          <a:prstGeom prst="pentagon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2" name="safety-shield-inner"/>
          <p:cNvSpPr/>
          <p:nvPr/>
        </p:nvSpPr>
        <p:spPr>
          <a:xfrm flipV="1">
            <a:off x="5819775" y="1438275"/>
            <a:ext cx="66675" cy="76200"/>
          </a:xfrm>
          <a:prstGeom prst="pentagon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3" name="q3"/>
          <p:cNvSpPr/>
          <p:nvPr/>
        </p:nvSpPr>
        <p:spPr>
          <a:xfrm>
            <a:off x="1704975" y="1781175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/>
        </p:txBody>
      </p:sp>
      <p:sp>
        <p:nvSpPr>
          <p:cNvPr id="54" name="q4"/>
          <p:cNvSpPr/>
          <p:nvPr/>
        </p:nvSpPr>
        <p:spPr>
          <a:xfrm>
            <a:off x="1704975" y="2314575"/>
            <a:ext cx="1876425" cy="41910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/>
        </p:txBody>
      </p:sp>
      <p:sp>
        <p:nvSpPr>
          <p:cNvPr id="55" name="h-top"/>
          <p:cNvSpPr/>
          <p:nvPr/>
        </p:nvSpPr>
        <p:spPr>
          <a:xfrm>
            <a:off x="5753100" y="18621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6" name="h-mid"/>
          <p:cNvSpPr/>
          <p:nvPr/>
        </p:nvSpPr>
        <p:spPr>
          <a:xfrm>
            <a:off x="5753100" y="1966913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7" name="h-left"/>
          <p:cNvSpPr/>
          <p:nvPr/>
        </p:nvSpPr>
        <p:spPr>
          <a:xfrm>
            <a:off x="566737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8" name="h-bottom"/>
          <p:cNvSpPr/>
          <p:nvPr/>
        </p:nvSpPr>
        <p:spPr>
          <a:xfrm>
            <a:off x="5753100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59" name="h-right"/>
          <p:cNvSpPr/>
          <p:nvPr/>
        </p:nvSpPr>
        <p:spPr>
          <a:xfrm>
            <a:off x="583882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0" name="chat-left"/>
          <p:cNvSpPr/>
          <p:nvPr/>
        </p:nvSpPr>
        <p:spPr>
          <a:xfrm>
            <a:off x="5676900" y="2819400"/>
            <a:ext cx="171450" cy="104775"/>
          </a:xfrm>
          <a:prstGeom prst="wedgeRectCallout">
            <a:avLst/>
          </a:prstGeom>
          <a:solidFill>
            <a:srgbClr val="E7F2F8"/>
          </a:solidFill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1" name="chat-right"/>
          <p:cNvSpPr/>
          <p:nvPr/>
        </p:nvSpPr>
        <p:spPr>
          <a:xfrm flipH="1">
            <a:off x="5762625" y="2876550"/>
            <a:ext cx="171450" cy="104775"/>
          </a:xfrm>
          <a:prstGeom prst="wedgeRectCallout">
            <a:avLst/>
          </a:prstGeom>
          <a:solidFill>
            <a:srgbClr val="D9EAF3"/>
          </a:solidFill>
          <a:ln w="6985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2" name="mesh-node-0"/>
          <p:cNvSpPr/>
          <p:nvPr/>
        </p:nvSpPr>
        <p:spPr>
          <a:xfrm>
            <a:off x="5691188" y="2414587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3" name="mesh-node-1"/>
          <p:cNvSpPr/>
          <p:nvPr/>
        </p:nvSpPr>
        <p:spPr>
          <a:xfrm>
            <a:off x="5776912" y="23955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4" name="mesh-node-2"/>
          <p:cNvSpPr/>
          <p:nvPr/>
        </p:nvSpPr>
        <p:spPr>
          <a:xfrm>
            <a:off x="5862638" y="2424112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5" name="mesh-node-3"/>
          <p:cNvSpPr/>
          <p:nvPr/>
        </p:nvSpPr>
        <p:spPr>
          <a:xfrm>
            <a:off x="5653088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6" name="mesh-node-4"/>
          <p:cNvSpPr/>
          <p:nvPr/>
        </p:nvSpPr>
        <p:spPr>
          <a:xfrm>
            <a:off x="5757862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7" name="mesh-node-5"/>
          <p:cNvSpPr/>
          <p:nvPr/>
        </p:nvSpPr>
        <p:spPr>
          <a:xfrm>
            <a:off x="5843588" y="25288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8" name="mesh-node-6"/>
          <p:cNvSpPr/>
          <p:nvPr/>
        </p:nvSpPr>
        <p:spPr>
          <a:xfrm>
            <a:off x="5719763" y="25860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69" name="chat-content-0"/>
          <p:cNvSpPr/>
          <p:nvPr/>
        </p:nvSpPr>
        <p:spPr>
          <a:xfrm>
            <a:off x="5705475" y="2847975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70" name="chat-content-1"/>
          <p:cNvSpPr/>
          <p:nvPr/>
        </p:nvSpPr>
        <p:spPr>
          <a:xfrm>
            <a:off x="5705475" y="2876550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/>
        </p:txBody>
      </p:sp>
      <p:sp>
        <p:nvSpPr>
          <p:cNvPr id="71" name="TextBox 71"/>
          <p:cNvSpPr txBox="1"/>
          <p:nvPr/>
        </p:nvSpPr>
        <p:spPr>
          <a:xfrm>
            <a:off x="1838325" y="2762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19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Input: Target QA Application Scenario</a:t>
            </a:r>
            <a:endParaRPr lang="zh-CN" sz="819"/>
          </a:p>
        </p:txBody>
      </p:sp>
      <p:sp>
        <p:nvSpPr>
          <p:cNvPr id="72" name="TextBox 72"/>
          <p:cNvSpPr txBox="1"/>
          <p:nvPr/>
        </p:nvSpPr>
        <p:spPr>
          <a:xfrm>
            <a:off x="1838325" y="3905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7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(Assess Key Decision Factors)</a:t>
            </a:r>
            <a:endParaRPr lang="zh-CN" sz="770"/>
          </a:p>
        </p:txBody>
      </p:sp>
      <p:sp>
        <p:nvSpPr>
          <p:cNvPr id="73" name="TextBox 73"/>
          <p:cNvSpPr txBox="1"/>
          <p:nvPr/>
        </p:nvSpPr>
        <p:spPr>
          <a:xfrm>
            <a:off x="742950" y="62865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1: Pre-screening</a:t>
            </a:r>
            <a:endParaRPr lang="zh-CN" sz="810"/>
          </a:p>
        </p:txBody>
      </p:sp>
      <p:sp>
        <p:nvSpPr>
          <p:cNvPr id="74" name="TextBox 74"/>
          <p:cNvSpPr txBox="1"/>
          <p:nvPr/>
        </p:nvSpPr>
        <p:spPr>
          <a:xfrm>
            <a:off x="1847850" y="714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complexity low and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specialization requirement not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high?</a:t>
            </a:r>
            <a:endParaRPr lang="zh-CN" sz="680"/>
          </a:p>
        </p:txBody>
      </p:sp>
      <p:sp>
        <p:nvSpPr>
          <p:cNvPr id="75" name="TextBox 75"/>
          <p:cNvSpPr txBox="1"/>
          <p:nvPr/>
        </p:nvSpPr>
        <p:spPr>
          <a:xfrm>
            <a:off x="1847850" y="12477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it in fields with high safety &amp;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compliance requirements like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Medical/Legal?</a:t>
            </a:r>
            <a:endParaRPr lang="zh-CN" sz="680"/>
          </a:p>
        </p:txBody>
      </p:sp>
      <p:sp>
        <p:nvSpPr>
          <p:cNvPr id="76" name="TextBox 76"/>
          <p:cNvSpPr txBox="1"/>
          <p:nvPr/>
        </p:nvSpPr>
        <p:spPr>
          <a:xfrm>
            <a:off x="3648075" y="7334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7" name="TextBox 77"/>
          <p:cNvSpPr txBox="1"/>
          <p:nvPr/>
        </p:nvSpPr>
        <p:spPr>
          <a:xfrm>
            <a:off x="2705100" y="10572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3648075" y="12668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9" name="TextBox 79"/>
          <p:cNvSpPr txBox="1"/>
          <p:nvPr/>
        </p:nvSpPr>
        <p:spPr>
          <a:xfrm>
            <a:off x="2705100" y="1600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0" name="TextBox 80"/>
          <p:cNvSpPr txBox="1"/>
          <p:nvPr/>
        </p:nvSpPr>
        <p:spPr>
          <a:xfrm>
            <a:off x="3962400" y="73342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Single-Agent </a:t>
            </a:r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Low latency, low cost.</a:t>
            </a:r>
            <a:endParaRPr lang="zh-CN" sz="740"/>
          </a:p>
        </p:txBody>
      </p:sp>
      <p:sp>
        <p:nvSpPr>
          <p:cNvPr id="81" name="TextBox 81"/>
          <p:cNvSpPr txBox="1"/>
          <p:nvPr/>
        </p:nvSpPr>
        <p:spPr>
          <a:xfrm>
            <a:off x="3962400" y="84772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Simple fact query,</a:t>
            </a:r>
            <a:endParaRPr lang="zh-CN" sz="650"/>
          </a:p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single-step reasoning tasks</a:t>
            </a:r>
            <a:endParaRPr lang="zh-CN" sz="650"/>
          </a:p>
        </p:txBody>
      </p:sp>
      <p:sp>
        <p:nvSpPr>
          <p:cNvPr id="82" name="TextBox 82"/>
          <p:cNvSpPr txBox="1"/>
          <p:nvPr/>
        </p:nvSpPr>
        <p:spPr>
          <a:xfrm>
            <a:off x="3962400" y="1257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+ HITL </a:t>
            </a:r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Human review at key points.</a:t>
            </a:r>
            <a:endParaRPr lang="zh-CN" sz="740"/>
          </a:p>
        </p:txBody>
      </p:sp>
      <p:sp>
        <p:nvSpPr>
          <p:cNvPr id="83" name="TextBox 83"/>
          <p:cNvSpPr txBox="1"/>
          <p:nvPr/>
        </p:nvSpPr>
        <p:spPr>
          <a:xfrm>
            <a:off x="3962400" y="1371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Medical diagnosis, legal consultation,</a:t>
            </a:r>
            <a:endParaRPr lang="zh-CN" sz="650"/>
          </a:p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financial risk control</a:t>
            </a:r>
            <a:endParaRPr lang="zh-CN" sz="650"/>
          </a:p>
        </p:txBody>
      </p:sp>
      <p:sp>
        <p:nvSpPr>
          <p:cNvPr id="84" name="TextBox 84"/>
          <p:cNvSpPr txBox="1"/>
          <p:nvPr/>
        </p:nvSpPr>
        <p:spPr>
          <a:xfrm>
            <a:off x="742950" y="170497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2: Selection</a:t>
            </a:r>
            <a:endParaRPr lang="zh-CN" sz="810"/>
          </a:p>
        </p:txBody>
      </p:sp>
      <p:sp>
        <p:nvSpPr>
          <p:cNvPr id="85" name="TextBox 85"/>
          <p:cNvSpPr txBox="1"/>
          <p:nvPr/>
        </p:nvSpPr>
        <p:spPr>
          <a:xfrm>
            <a:off x="1847850" y="1809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workflow highly standardized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clear serial dependencies?</a:t>
            </a:r>
            <a:endParaRPr lang="zh-CN" sz="680"/>
          </a:p>
        </p:txBody>
      </p:sp>
      <p:sp>
        <p:nvSpPr>
          <p:cNvPr id="86" name="TextBox 86"/>
          <p:cNvSpPr txBox="1"/>
          <p:nvPr/>
        </p:nvSpPr>
        <p:spPr>
          <a:xfrm>
            <a:off x="1847850" y="23431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Does task difficulty fluctuate widely with</a:t>
            </a:r>
            <a:endParaRPr lang="zh-CN" sz="680"/>
          </a:p>
          <a:p>
            <a:pPr algn="ctr"/>
            <a:r>
              <a:rPr lang="zh-CN" sz="68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complex cross-domain multi-hop reasoning?</a:t>
            </a:r>
            <a:endParaRPr lang="zh-CN" sz="680"/>
          </a:p>
        </p:txBody>
      </p:sp>
      <p:sp>
        <p:nvSpPr>
          <p:cNvPr id="87" name="TextBox 87"/>
          <p:cNvSpPr txBox="1"/>
          <p:nvPr/>
        </p:nvSpPr>
        <p:spPr>
          <a:xfrm>
            <a:off x="3648075" y="18383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88" name="TextBox 88"/>
          <p:cNvSpPr txBox="1"/>
          <p:nvPr/>
        </p:nvSpPr>
        <p:spPr>
          <a:xfrm>
            <a:off x="2705100" y="21621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9" name="TextBox 89"/>
          <p:cNvSpPr txBox="1"/>
          <p:nvPr/>
        </p:nvSpPr>
        <p:spPr>
          <a:xfrm>
            <a:off x="3648075" y="23907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90" name="TextBox 90"/>
          <p:cNvSpPr txBox="1"/>
          <p:nvPr/>
        </p:nvSpPr>
        <p:spPr>
          <a:xfrm>
            <a:off x="2695575" y="2743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91" name="TextBox 91"/>
          <p:cNvSpPr txBox="1"/>
          <p:nvPr/>
        </p:nvSpPr>
        <p:spPr>
          <a:xfrm>
            <a:off x="3962400" y="181927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Hierarchical </a:t>
            </a:r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Manager-Executor / RAG Pipeline</a:t>
            </a:r>
            <a:endParaRPr lang="zh-CN" sz="740"/>
          </a:p>
        </p:txBody>
      </p:sp>
      <p:sp>
        <p:nvSpPr>
          <p:cNvPr id="92" name="TextBox 92"/>
          <p:cNvSpPr txBox="1"/>
          <p:nvPr/>
        </p:nvSpPr>
        <p:spPr>
          <a:xfrm>
            <a:off x="3962400" y="193357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Knowledge-intensive QA,</a:t>
            </a:r>
            <a:endParaRPr lang="zh-CN" sz="650"/>
          </a:p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long document QA</a:t>
            </a:r>
            <a:endParaRPr lang="zh-CN" sz="650"/>
          </a:p>
        </p:txBody>
      </p:sp>
      <p:sp>
        <p:nvSpPr>
          <p:cNvPr id="93" name="TextBox 93"/>
          <p:cNvSpPr txBox="1"/>
          <p:nvPr/>
        </p:nvSpPr>
        <p:spPr>
          <a:xfrm>
            <a:off x="3962400" y="238125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</a:t>
            </a:r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Adaptive switching / Mesh network</a:t>
            </a:r>
            <a:endParaRPr lang="zh-CN" sz="740"/>
          </a:p>
        </p:txBody>
      </p:sp>
      <p:sp>
        <p:nvSpPr>
          <p:cNvPr id="94" name="TextBox 94"/>
          <p:cNvSpPr txBox="1"/>
          <p:nvPr/>
        </p:nvSpPr>
        <p:spPr>
          <a:xfrm>
            <a:off x="3962400" y="249555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Large complexity span,</a:t>
            </a:r>
            <a:endParaRPr lang="zh-CN" sz="650"/>
          </a:p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multi-hop reasoning</a:t>
            </a:r>
            <a:endParaRPr lang="zh-CN" sz="650"/>
          </a:p>
        </p:txBody>
      </p:sp>
      <p:sp>
        <p:nvSpPr>
          <p:cNvPr id="95" name="TextBox 95"/>
          <p:cNvSpPr txBox="1"/>
          <p:nvPr/>
        </p:nvSpPr>
        <p:spPr>
          <a:xfrm>
            <a:off x="3962400" y="2781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Flat </a:t>
            </a:r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Multi-party debate / Role play / Group chat</a:t>
            </a:r>
            <a:endParaRPr lang="zh-CN" sz="740"/>
          </a:p>
        </p:txBody>
      </p:sp>
      <p:sp>
        <p:nvSpPr>
          <p:cNvPr id="96" name="TextBox 96"/>
          <p:cNvSpPr txBox="1"/>
          <p:nvPr/>
        </p:nvSpPr>
        <p:spPr>
          <a:xfrm>
            <a:off x="3962400" y="2895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Open-domain QA,</a:t>
            </a:r>
            <a:endParaRPr lang="zh-CN" sz="650"/>
          </a:p>
          <a:p>
            <a:pPr algn="l"/>
            <a:r>
              <a:rPr lang="zh-CN" sz="65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multi-perspective verification</a:t>
            </a:r>
            <a:endParaRPr lang="zh-CN" sz="650"/>
          </a:p>
        </p:txBody>
      </p:sp>
      <p:sp>
        <p:nvSpPr>
          <p:cNvPr id="97" name="TextBox 97"/>
          <p:cNvSpPr txBox="1"/>
          <p:nvPr/>
        </p:nvSpPr>
        <p:spPr>
          <a:xfrm>
            <a:off x="742950" y="3133725"/>
            <a:ext cx="525780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Note: Phase 1 judgment is a hard constraint; Phase 2 is a preferred recommendation, practice can be balanced with team capabilities &amp; budget constraints.</a:t>
            </a:r>
            <a:endParaRPr lang="zh-CN" sz="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