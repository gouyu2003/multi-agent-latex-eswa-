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undation-circle"/>
          <p:cNvSpPr/>
          <p:nvPr/>
        </p:nvSpPr>
        <p:spPr>
          <a:xfrm>
            <a:off x="1419145" y="226855"/>
            <a:ext cx="2443053" cy="2443053"/>
          </a:xfrm>
          <a:prstGeom prst="ellipse">
            <a:avLst/>
          </a:prstGeom>
          <a:solidFill>
            <a:srgbClr val="FCE8D5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orchestration-circle"/>
          <p:cNvSpPr/>
          <p:nvPr/>
        </p:nvSpPr>
        <p:spPr>
          <a:xfrm>
            <a:off x="8643603" y="226855"/>
            <a:ext cx="2443053" cy="2443053"/>
          </a:xfrm>
          <a:prstGeom prst="ellipse">
            <a:avLst/>
          </a:prstGeom>
          <a:solidFill>
            <a:srgbClr val="EEECDC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application-circle"/>
          <p:cNvSpPr/>
          <p:nvPr/>
        </p:nvSpPr>
        <p:spPr>
          <a:xfrm>
            <a:off x="1419145" y="4065939"/>
            <a:ext cx="2443053" cy="2443053"/>
          </a:xfrm>
          <a:prstGeom prst="ellipse">
            <a:avLst/>
          </a:prstGeom>
          <a:solidFill>
            <a:srgbClr val="D3E7F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valuation-circle"/>
          <p:cNvSpPr/>
          <p:nvPr/>
        </p:nvSpPr>
        <p:spPr>
          <a:xfrm>
            <a:off x="8469100" y="3891435"/>
            <a:ext cx="2792061" cy="2792061"/>
          </a:xfrm>
          <a:prstGeom prst="ellipse">
            <a:avLst/>
          </a:prstGeom>
          <a:solidFill>
            <a:srgbClr val="E9E1E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entral-hexagon"/>
          <p:cNvSpPr/>
          <p:nvPr/>
        </p:nvSpPr>
        <p:spPr>
          <a:xfrm>
            <a:off x="5031374" y="2268550"/>
            <a:ext cx="2443053" cy="2006794"/>
          </a:xfrm>
          <a:prstGeom prst="hexagon">
            <a:avLst/>
          </a:prstGeom>
          <a:solidFill>
            <a:srgbClr val="168BC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rew-link-0"/>
          <p:cNvSpPr/>
          <p:nvPr/>
        </p:nvSpPr>
        <p:spPr>
          <a:xfrm flipH="1">
            <a:off x="10283939" y="1361130"/>
            <a:ext cx="157053" cy="279206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" name="crew-link-1"/>
          <p:cNvSpPr/>
          <p:nvPr/>
        </p:nvSpPr>
        <p:spPr>
          <a:xfrm>
            <a:off x="10440993" y="1361130"/>
            <a:ext cx="174504" cy="279206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" name="crew-link-2"/>
          <p:cNvSpPr/>
          <p:nvPr/>
        </p:nvSpPr>
        <p:spPr>
          <a:xfrm>
            <a:off x="10283939" y="1640336"/>
            <a:ext cx="331557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" name="costorm-link-0"/>
          <p:cNvSpPr/>
          <p:nvPr/>
        </p:nvSpPr>
        <p:spPr>
          <a:xfrm flipH="1">
            <a:off x="2518519" y="5217664"/>
            <a:ext cx="122153" cy="261756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1" name="costorm-link-1"/>
          <p:cNvSpPr/>
          <p:nvPr/>
        </p:nvSpPr>
        <p:spPr>
          <a:xfrm>
            <a:off x="2640672" y="5217664"/>
            <a:ext cx="139603" cy="261756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" name="costorm-link-2"/>
          <p:cNvSpPr/>
          <p:nvPr/>
        </p:nvSpPr>
        <p:spPr>
          <a:xfrm>
            <a:off x="2518519" y="5479420"/>
            <a:ext cx="261756" cy="0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" name="llama-leg-0"/>
          <p:cNvSpPr/>
          <p:nvPr/>
        </p:nvSpPr>
        <p:spPr>
          <a:xfrm flipH="1">
            <a:off x="2954779" y="1727588"/>
            <a:ext cx="17450" cy="157053"/>
          </a:xfrm>
          <a:prstGeom prst="line">
            <a:avLst/>
          </a:prstGeom>
          <a:noFill/>
          <a:ln w="2908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4" name="llama-leg-1"/>
          <p:cNvSpPr/>
          <p:nvPr/>
        </p:nvSpPr>
        <p:spPr>
          <a:xfrm flipH="1">
            <a:off x="3024580" y="1727588"/>
            <a:ext cx="17450" cy="157053"/>
          </a:xfrm>
          <a:prstGeom prst="line">
            <a:avLst/>
          </a:prstGeom>
          <a:noFill/>
          <a:ln w="2908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5" name="llama-leg-2"/>
          <p:cNvSpPr/>
          <p:nvPr/>
        </p:nvSpPr>
        <p:spPr>
          <a:xfrm flipH="1">
            <a:off x="3129283" y="1727588"/>
            <a:ext cx="17450" cy="157053"/>
          </a:xfrm>
          <a:prstGeom prst="line">
            <a:avLst/>
          </a:prstGeom>
          <a:noFill/>
          <a:ln w="2908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6" name="llama-tail"/>
          <p:cNvSpPr/>
          <p:nvPr/>
        </p:nvSpPr>
        <p:spPr>
          <a:xfrm flipV="1">
            <a:off x="3181634" y="1605435"/>
            <a:ext cx="69802" cy="52351"/>
          </a:xfrm>
          <a:prstGeom prst="line">
            <a:avLst/>
          </a:prstGeom>
          <a:noFill/>
          <a:ln w="23267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7" name="index-edge-1"/>
          <p:cNvSpPr/>
          <p:nvPr/>
        </p:nvSpPr>
        <p:spPr>
          <a:xfrm>
            <a:off x="3338687" y="1518183"/>
            <a:ext cx="0" cy="104702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8" name="index-edge-2"/>
          <p:cNvSpPr/>
          <p:nvPr/>
        </p:nvSpPr>
        <p:spPr>
          <a:xfrm>
            <a:off x="3338687" y="1692687"/>
            <a:ext cx="0" cy="104702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cxnSp>
        <p:nvCxnSpPr>
          <p:cNvPr id="19" name="foundation-interface"/>
          <p:cNvCxnSpPr/>
          <p:nvPr/>
        </p:nvCxnSpPr>
        <p:spPr>
          <a:xfrm flipH="1" flipV="1">
            <a:off x="3966901" y="2006794"/>
            <a:ext cx="994672" cy="29665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0" name="foundation-retrieval"/>
          <p:cNvCxnSpPr/>
          <p:nvPr/>
        </p:nvCxnSpPr>
        <p:spPr>
          <a:xfrm>
            <a:off x="3879649" y="2181298"/>
            <a:ext cx="1029573" cy="29665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sp>
        <p:nvSpPr>
          <p:cNvPr id="21" name="metagpt-robot-antenna"/>
          <p:cNvSpPr/>
          <p:nvPr/>
        </p:nvSpPr>
        <p:spPr>
          <a:xfrm flipV="1">
            <a:off x="9865130" y="1998418"/>
            <a:ext cx="0" cy="50257"/>
          </a:xfrm>
          <a:prstGeom prst="line">
            <a:avLst/>
          </a:prstGeom>
          <a:noFill/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22" name="metagpt-robot-leg-0"/>
          <p:cNvSpPr/>
          <p:nvPr/>
        </p:nvSpPr>
        <p:spPr>
          <a:xfrm>
            <a:off x="9827437" y="2299960"/>
            <a:ext cx="0" cy="37693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23" name="metagpt-robot-leg-1"/>
          <p:cNvSpPr/>
          <p:nvPr/>
        </p:nvSpPr>
        <p:spPr>
          <a:xfrm>
            <a:off x="9902823" y="2299960"/>
            <a:ext cx="0" cy="37693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/>
        </p:txBody>
      </p:sp>
      <p:cxnSp>
        <p:nvCxnSpPr>
          <p:cNvPr id="24" name="role-definition"/>
          <p:cNvCxnSpPr/>
          <p:nvPr/>
        </p:nvCxnSpPr>
        <p:spPr>
          <a:xfrm flipV="1">
            <a:off x="7509329" y="2006794"/>
            <a:ext cx="1012122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5" name="workflow-control"/>
          <p:cNvCxnSpPr/>
          <p:nvPr/>
        </p:nvCxnSpPr>
        <p:spPr>
          <a:xfrm flipH="1">
            <a:off x="7509329" y="2181298"/>
            <a:ext cx="1029573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6" name="synthesis-link"/>
          <p:cNvCxnSpPr/>
          <p:nvPr/>
        </p:nvCxnSpPr>
        <p:spPr>
          <a:xfrm flipV="1">
            <a:off x="3897100" y="4100840"/>
            <a:ext cx="1029573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27" name="document-link"/>
          <p:cNvCxnSpPr/>
          <p:nvPr/>
        </p:nvCxnSpPr>
        <p:spPr>
          <a:xfrm flipH="1">
            <a:off x="3966901" y="4275344"/>
            <a:ext cx="959771" cy="29665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sp>
        <p:nvSpPr>
          <p:cNvPr id="28" name="musique-edge1"/>
          <p:cNvSpPr/>
          <p:nvPr/>
        </p:nvSpPr>
        <p:spPr>
          <a:xfrm>
            <a:off x="10650397" y="5078061"/>
            <a:ext cx="52351" cy="0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29" name="musique-edge2"/>
          <p:cNvSpPr/>
          <p:nvPr/>
        </p:nvSpPr>
        <p:spPr>
          <a:xfrm>
            <a:off x="10772550" y="5078061"/>
            <a:ext cx="52351" cy="0"/>
          </a:xfrm>
          <a:prstGeom prst="line">
            <a:avLst/>
          </a:prstGeom>
          <a:noFill/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0" name="agentbench-antenna"/>
          <p:cNvSpPr/>
          <p:nvPr/>
        </p:nvSpPr>
        <p:spPr>
          <a:xfrm flipV="1">
            <a:off x="9289267" y="5808534"/>
            <a:ext cx="0" cy="32109"/>
          </a:xfrm>
          <a:prstGeom prst="line">
            <a:avLst/>
          </a:prstGeom>
          <a:noFill/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1" name="agentbench-leg-0"/>
          <p:cNvSpPr/>
          <p:nvPr/>
        </p:nvSpPr>
        <p:spPr>
          <a:xfrm>
            <a:off x="9265186" y="6001186"/>
            <a:ext cx="0" cy="24082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2" name="agentbench-leg-1"/>
          <p:cNvSpPr/>
          <p:nvPr/>
        </p:nvSpPr>
        <p:spPr>
          <a:xfrm>
            <a:off x="9313349" y="6001186"/>
            <a:ext cx="0" cy="24082"/>
          </a:xfrm>
          <a:prstGeom prst="line">
            <a:avLst/>
          </a:prstGeom>
          <a:noFill/>
          <a:ln w="1861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3" name="gaia-check-0"/>
          <p:cNvSpPr/>
          <p:nvPr/>
        </p:nvSpPr>
        <p:spPr>
          <a:xfrm>
            <a:off x="9777878" y="5810977"/>
            <a:ext cx="17450" cy="17450"/>
          </a:xfrm>
          <a:prstGeom prst="line">
            <a:avLst/>
          </a:prstGeom>
          <a:noFill/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4" name="gaia-rule-0"/>
          <p:cNvSpPr/>
          <p:nvPr/>
        </p:nvSpPr>
        <p:spPr>
          <a:xfrm>
            <a:off x="9847680" y="5810977"/>
            <a:ext cx="104702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5" name="gaia-check-1"/>
          <p:cNvSpPr/>
          <p:nvPr/>
        </p:nvSpPr>
        <p:spPr>
          <a:xfrm>
            <a:off x="9777878" y="5880779"/>
            <a:ext cx="17450" cy="17450"/>
          </a:xfrm>
          <a:prstGeom prst="line">
            <a:avLst/>
          </a:prstGeom>
          <a:noFill/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6" name="gaia-rule-1"/>
          <p:cNvSpPr/>
          <p:nvPr/>
        </p:nvSpPr>
        <p:spPr>
          <a:xfrm>
            <a:off x="9847680" y="5880779"/>
            <a:ext cx="104702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7" name="gaia-check-2"/>
          <p:cNvSpPr/>
          <p:nvPr/>
        </p:nvSpPr>
        <p:spPr>
          <a:xfrm>
            <a:off x="9777878" y="5950580"/>
            <a:ext cx="17450" cy="17450"/>
          </a:xfrm>
          <a:prstGeom prst="line">
            <a:avLst/>
          </a:prstGeom>
          <a:noFill/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8" name="gaia-rule-2"/>
          <p:cNvSpPr/>
          <p:nvPr/>
        </p:nvSpPr>
        <p:spPr>
          <a:xfrm>
            <a:off x="9847680" y="5950580"/>
            <a:ext cx="104702" cy="0"/>
          </a:xfrm>
          <a:prstGeom prst="line">
            <a:avLst/>
          </a:prstGeom>
          <a:noFill/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39" name="evaluation-tool-divider"/>
          <p:cNvSpPr/>
          <p:nvPr/>
        </p:nvSpPr>
        <p:spPr>
          <a:xfrm>
            <a:off x="9254367" y="6317038"/>
            <a:ext cx="1221527" cy="0"/>
          </a:xfrm>
          <a:prstGeom prst="line">
            <a:avLst/>
          </a:prstGeom>
          <a:noFill/>
          <a:ln w="10470">
            <a:solidFill>
              <a:srgbClr val="B7ABBE"/>
            </a:solidFill>
            <a:prstDash val="dash"/>
          </a:ln>
        </p:spPr>
        <p:txBody>
          <a:bodyPr/>
          <a:lstStyle/>
          <a:p/>
        </p:txBody>
      </p:sp>
      <p:cxnSp>
        <p:nvCxnSpPr>
          <p:cNvPr id="40" name="answer-assessment"/>
          <p:cNvCxnSpPr/>
          <p:nvPr/>
        </p:nvCxnSpPr>
        <p:spPr>
          <a:xfrm flipH="1" flipV="1">
            <a:off x="7509329" y="4100840"/>
            <a:ext cx="1047023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41" name="rag-assessment"/>
          <p:cNvCxnSpPr/>
          <p:nvPr/>
        </p:nvCxnSpPr>
        <p:spPr>
          <a:xfrm>
            <a:off x="7491878" y="4275344"/>
            <a:ext cx="994672" cy="279206"/>
          </a:xfrm>
          <a:prstGeom prst="line">
            <a:avLst/>
          </a:prstGeom>
          <a:noFill/>
          <a:ln w="16287">
            <a:solidFill>
              <a:srgbClr val="858E92"/>
            </a:solidFill>
            <a:tailEnd type="triangle" w="sm" len="sm"/>
          </a:ln>
        </p:spPr>
      </p:cxnSp>
      <p:cxnSp>
        <p:nvCxnSpPr>
          <p:cNvPr id="42" name="construction-arrow"/>
          <p:cNvCxnSpPr/>
          <p:nvPr/>
        </p:nvCxnSpPr>
        <p:spPr>
          <a:xfrm>
            <a:off x="6252901" y="4380046"/>
            <a:ext cx="0" cy="924870"/>
          </a:xfrm>
          <a:prstGeom prst="line">
            <a:avLst/>
          </a:prstGeom>
          <a:noFill/>
          <a:ln w="18613">
            <a:solidFill>
              <a:srgbClr val="858E92"/>
            </a:solidFill>
            <a:tailEnd type="triangle" w="sm" len="sm"/>
          </a:ln>
        </p:spPr>
      </p:cxnSp>
      <p:sp>
        <p:nvSpPr>
          <p:cNvPr id="43" name="langchain-window"/>
          <p:cNvSpPr/>
          <p:nvPr/>
        </p:nvSpPr>
        <p:spPr>
          <a:xfrm>
            <a:off x="1907756" y="1448382"/>
            <a:ext cx="436260" cy="331557"/>
          </a:xfrm>
          <a:prstGeom prst="rect">
            <a:avLst/>
          </a:prstGeom>
          <a:solidFill>
            <a:srgbClr val="F9FBFC"/>
          </a:solidFill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44" name="langchain-topbar"/>
          <p:cNvSpPr/>
          <p:nvPr/>
        </p:nvSpPr>
        <p:spPr>
          <a:xfrm>
            <a:off x="1907756" y="1396031"/>
            <a:ext cx="436260" cy="87252"/>
          </a:xfrm>
          <a:prstGeom prst="rect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45" name="window-dot-0"/>
          <p:cNvSpPr/>
          <p:nvPr/>
        </p:nvSpPr>
        <p:spPr>
          <a:xfrm>
            <a:off x="1967087" y="1429186"/>
            <a:ext cx="20940" cy="20940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window-dot-1"/>
          <p:cNvSpPr/>
          <p:nvPr/>
        </p:nvSpPr>
        <p:spPr>
          <a:xfrm>
            <a:off x="2036889" y="1429186"/>
            <a:ext cx="20940" cy="20940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window-dot-2"/>
          <p:cNvSpPr/>
          <p:nvPr/>
        </p:nvSpPr>
        <p:spPr>
          <a:xfrm>
            <a:off x="2106690" y="1429186"/>
            <a:ext cx="20940" cy="20940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chain-link1"/>
          <p:cNvSpPr/>
          <p:nvPr/>
        </p:nvSpPr>
        <p:spPr>
          <a:xfrm>
            <a:off x="2178237" y="1710137"/>
            <a:ext cx="191954" cy="104702"/>
          </a:xfrm>
          <a:prstGeom prst="ellipse">
            <a:avLst/>
          </a:prstGeom>
          <a:noFill/>
          <a:ln w="2094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49" name="chain-link2"/>
          <p:cNvSpPr/>
          <p:nvPr/>
        </p:nvSpPr>
        <p:spPr>
          <a:xfrm>
            <a:off x="2248038" y="1797389"/>
            <a:ext cx="191954" cy="104702"/>
          </a:xfrm>
          <a:prstGeom prst="ellipse">
            <a:avLst/>
          </a:prstGeom>
          <a:noFill/>
          <a:ln w="2094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0" name="llama-silhouette"/>
          <p:cNvSpPr/>
          <p:nvPr/>
        </p:nvSpPr>
        <p:spPr>
          <a:xfrm>
            <a:off x="2902428" y="1396031"/>
            <a:ext cx="279206" cy="3839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3745"/>
                </a:moveTo>
                <a:lnTo>
                  <a:pt x="4050" y="13745"/>
                </a:lnTo>
                <a:lnTo>
                  <a:pt x="2700" y="1964"/>
                </a:lnTo>
                <a:lnTo>
                  <a:pt x="8100" y="0"/>
                </a:lnTo>
                <a:lnTo>
                  <a:pt x="12150" y="3927"/>
                </a:lnTo>
                <a:lnTo>
                  <a:pt x="13500" y="11782"/>
                </a:lnTo>
                <a:lnTo>
                  <a:pt x="21600" y="13745"/>
                </a:lnTo>
                <a:lnTo>
                  <a:pt x="21600" y="20618"/>
                </a:lnTo>
                <a:lnTo>
                  <a:pt x="8100" y="20618"/>
                </a:lnTo>
                <a:lnTo>
                  <a:pt x="4050" y="18655"/>
                </a:lnTo>
                <a:close/>
              </a:path>
            </a:pathLst>
          </a:custGeom>
          <a:solidFill>
            <a:srgbClr val="243945"/>
          </a:solidFill>
          <a:ln w="11633">
            <a:solidFill>
              <a:srgbClr val="243945"/>
            </a:solidFill>
          </a:ln>
        </p:spPr>
        <p:txBody>
          <a:bodyPr/>
          <a:lstStyle/>
          <a:p/>
        </p:txBody>
      </p:sp>
      <p:sp>
        <p:nvSpPr>
          <p:cNvPr id="51" name="index-node-0"/>
          <p:cNvSpPr/>
          <p:nvPr/>
        </p:nvSpPr>
        <p:spPr>
          <a:xfrm>
            <a:off x="3303787" y="1448382"/>
            <a:ext cx="69802" cy="69802"/>
          </a:xfrm>
          <a:prstGeom prst="ellipse">
            <a:avLst/>
          </a:prstGeom>
          <a:solidFill>
            <a:srgbClr val="DCEFFA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2" name="index-node-1"/>
          <p:cNvSpPr/>
          <p:nvPr/>
        </p:nvSpPr>
        <p:spPr>
          <a:xfrm>
            <a:off x="3303787" y="1622885"/>
            <a:ext cx="69802" cy="69802"/>
          </a:xfrm>
          <a:prstGeom prst="ellipse">
            <a:avLst/>
          </a:prstGeom>
          <a:solidFill>
            <a:srgbClr val="DCEFFA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3" name="index-node-2"/>
          <p:cNvSpPr/>
          <p:nvPr/>
        </p:nvSpPr>
        <p:spPr>
          <a:xfrm>
            <a:off x="3303787" y="1797389"/>
            <a:ext cx="69802" cy="69802"/>
          </a:xfrm>
          <a:prstGeom prst="ellipse">
            <a:avLst/>
          </a:prstGeom>
          <a:solidFill>
            <a:srgbClr val="DCEFFA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4" name="autogen-gear1"/>
          <p:cNvSpPr/>
          <p:nvPr/>
        </p:nvSpPr>
        <p:spPr>
          <a:xfrm>
            <a:off x="9079863" y="1291328"/>
            <a:ext cx="261756" cy="261756"/>
          </a:xfrm>
          <a:prstGeom prst="gear6">
            <a:avLst/>
          </a:prstGeom>
          <a:solidFill>
            <a:srgbClr val="B2D9EB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5" name="autogen-gear2"/>
          <p:cNvSpPr/>
          <p:nvPr/>
        </p:nvSpPr>
        <p:spPr>
          <a:xfrm>
            <a:off x="9271817" y="1465832"/>
            <a:ext cx="314107" cy="314107"/>
          </a:xfrm>
          <a:prstGeom prst="gear6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6" name="crew-member-0-head"/>
          <p:cNvSpPr/>
          <p:nvPr/>
        </p:nvSpPr>
        <p:spPr>
          <a:xfrm>
            <a:off x="10406092" y="1326229"/>
            <a:ext cx="69802" cy="69802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7" name="crew-member-0-body"/>
          <p:cNvSpPr/>
          <p:nvPr/>
        </p:nvSpPr>
        <p:spPr>
          <a:xfrm>
            <a:off x="10385151" y="1416971"/>
            <a:ext cx="111682" cy="9772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8" name="crew-member-1-head"/>
          <p:cNvSpPr/>
          <p:nvPr/>
        </p:nvSpPr>
        <p:spPr>
          <a:xfrm>
            <a:off x="10249038" y="1605435"/>
            <a:ext cx="69802" cy="69802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59" name="crew-member-1-body"/>
          <p:cNvSpPr/>
          <p:nvPr/>
        </p:nvSpPr>
        <p:spPr>
          <a:xfrm>
            <a:off x="10228098" y="1696177"/>
            <a:ext cx="111682" cy="9772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0" name="crew-member-2-head"/>
          <p:cNvSpPr/>
          <p:nvPr/>
        </p:nvSpPr>
        <p:spPr>
          <a:xfrm>
            <a:off x="10580596" y="1605435"/>
            <a:ext cx="69802" cy="69802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1" name="crew-member-2-body"/>
          <p:cNvSpPr/>
          <p:nvPr/>
        </p:nvSpPr>
        <p:spPr>
          <a:xfrm>
            <a:off x="10559655" y="1696177"/>
            <a:ext cx="111682" cy="9772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2" name="metagpt-robot-head"/>
          <p:cNvSpPr/>
          <p:nvPr/>
        </p:nvSpPr>
        <p:spPr>
          <a:xfrm>
            <a:off x="9777180" y="2048675"/>
            <a:ext cx="175900" cy="125643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3" name="metagpt-robot-tip"/>
          <p:cNvSpPr/>
          <p:nvPr/>
        </p:nvSpPr>
        <p:spPr>
          <a:xfrm>
            <a:off x="9847540" y="1968263"/>
            <a:ext cx="35180" cy="35180"/>
          </a:xfrm>
          <a:prstGeom prst="ellipse">
            <a:avLst/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4" name="metagpt-robot-body"/>
          <p:cNvSpPr/>
          <p:nvPr/>
        </p:nvSpPr>
        <p:spPr>
          <a:xfrm>
            <a:off x="9789744" y="2199446"/>
            <a:ext cx="150771" cy="100514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5" name="metagpt-terminal"/>
          <p:cNvSpPr/>
          <p:nvPr/>
        </p:nvSpPr>
        <p:spPr>
          <a:xfrm>
            <a:off x="9708077" y="2286000"/>
            <a:ext cx="314107" cy="122153"/>
          </a:xfrm>
          <a:prstGeom prst="rect">
            <a:avLst/>
          </a:prstGeom>
          <a:solidFill>
            <a:srgbClr val="DBECF3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6" name="storm-page"/>
          <p:cNvSpPr/>
          <p:nvPr/>
        </p:nvSpPr>
        <p:spPr>
          <a:xfrm>
            <a:off x="1768153" y="5217664"/>
            <a:ext cx="314107" cy="418809"/>
          </a:xfrm>
          <a:prstGeom prst="foldedCorner">
            <a:avLst/>
          </a:prstGeom>
          <a:solidFill>
            <a:srgbClr val="F7FCFE"/>
          </a:solidFill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7" name="costorm-node-0"/>
          <p:cNvSpPr/>
          <p:nvPr/>
        </p:nvSpPr>
        <p:spPr>
          <a:xfrm>
            <a:off x="2588321" y="5165313"/>
            <a:ext cx="104702" cy="104702"/>
          </a:xfrm>
          <a:prstGeom prst="ellipse">
            <a:avLst/>
          </a:prstGeom>
          <a:solidFill>
            <a:srgbClr val="F4BE62"/>
          </a:solidFill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8" name="costorm-node-1"/>
          <p:cNvSpPr/>
          <p:nvPr/>
        </p:nvSpPr>
        <p:spPr>
          <a:xfrm>
            <a:off x="2466168" y="5427069"/>
            <a:ext cx="104702" cy="104702"/>
          </a:xfrm>
          <a:prstGeom prst="ellipse">
            <a:avLst/>
          </a:prstGeom>
          <a:solidFill>
            <a:srgbClr val="A4D4ED"/>
          </a:solidFill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69" name="costorm-node-2"/>
          <p:cNvSpPr/>
          <p:nvPr/>
        </p:nvSpPr>
        <p:spPr>
          <a:xfrm>
            <a:off x="2727924" y="5427069"/>
            <a:ext cx="104702" cy="104702"/>
          </a:xfrm>
          <a:prstGeom prst="ellipse">
            <a:avLst/>
          </a:prstGeom>
          <a:solidFill>
            <a:srgbClr val="A4D4ED"/>
          </a:solidFill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0" name="ragflow-page"/>
          <p:cNvSpPr/>
          <p:nvPr/>
        </p:nvSpPr>
        <p:spPr>
          <a:xfrm>
            <a:off x="3199084" y="5147863"/>
            <a:ext cx="349008" cy="418809"/>
          </a:xfrm>
          <a:prstGeom prst="foldedCorner">
            <a:avLst/>
          </a:prstGeom>
          <a:solidFill>
            <a:srgbClr val="F7FCFE"/>
          </a:solidFill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1" name="hotpot-db"/>
          <p:cNvSpPr/>
          <p:nvPr/>
        </p:nvSpPr>
        <p:spPr>
          <a:xfrm>
            <a:off x="8853008" y="4973359"/>
            <a:ext cx="226855" cy="226855"/>
          </a:xfrm>
          <a:prstGeom prst="rect">
            <a:avLst/>
          </a:prstGeom>
          <a:solidFill>
            <a:srgbClr val="B9AED1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2" name="coqa-bubble"/>
          <p:cNvSpPr/>
          <p:nvPr/>
        </p:nvSpPr>
        <p:spPr>
          <a:xfrm>
            <a:off x="9393970" y="4938458"/>
            <a:ext cx="349008" cy="261756"/>
          </a:xfrm>
          <a:prstGeom prst="wedgeRoundRectCallout">
            <a:avLst/>
          </a:prstGeom>
          <a:solidFill>
            <a:srgbClr val="A9D9EF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3" name="mmlu-brain-lobe-0"/>
          <p:cNvSpPr/>
          <p:nvPr/>
        </p:nvSpPr>
        <p:spPr>
          <a:xfrm>
            <a:off x="10043822" y="4955559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4" name="mmlu-brain-lobe-1"/>
          <p:cNvSpPr/>
          <p:nvPr/>
        </p:nvSpPr>
        <p:spPr>
          <a:xfrm>
            <a:off x="10116416" y="4919263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5" name="mmlu-brain-lobe-2"/>
          <p:cNvSpPr/>
          <p:nvPr/>
        </p:nvSpPr>
        <p:spPr>
          <a:xfrm>
            <a:off x="10189009" y="4955559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6" name="mmlu-brain-lobe-3"/>
          <p:cNvSpPr/>
          <p:nvPr/>
        </p:nvSpPr>
        <p:spPr>
          <a:xfrm>
            <a:off x="10025674" y="5037227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7" name="mmlu-brain-lobe-4"/>
          <p:cNvSpPr/>
          <p:nvPr/>
        </p:nvSpPr>
        <p:spPr>
          <a:xfrm>
            <a:off x="10207158" y="5037227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8" name="mmlu-brain-lobe-5"/>
          <p:cNvSpPr/>
          <p:nvPr/>
        </p:nvSpPr>
        <p:spPr>
          <a:xfrm>
            <a:off x="10052896" y="5109821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79" name="mmlu-brain-lobe-6"/>
          <p:cNvSpPr/>
          <p:nvPr/>
        </p:nvSpPr>
        <p:spPr>
          <a:xfrm>
            <a:off x="10116416" y="5137043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0" name="mmlu-brain-lobe-7"/>
          <p:cNvSpPr/>
          <p:nvPr/>
        </p:nvSpPr>
        <p:spPr>
          <a:xfrm>
            <a:off x="10179935" y="5109821"/>
            <a:ext cx="90742" cy="99816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1" name="musique-node-0"/>
          <p:cNvSpPr/>
          <p:nvPr/>
        </p:nvSpPr>
        <p:spPr>
          <a:xfrm>
            <a:off x="10571871" y="5034435"/>
            <a:ext cx="87252" cy="87252"/>
          </a:xfrm>
          <a:prstGeom prst="ellipse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2" name="musique-node-1"/>
          <p:cNvSpPr/>
          <p:nvPr/>
        </p:nvSpPr>
        <p:spPr>
          <a:xfrm>
            <a:off x="10694023" y="5034435"/>
            <a:ext cx="87252" cy="87252"/>
          </a:xfrm>
          <a:prstGeom prst="ellipse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3" name="musique-node-2"/>
          <p:cNvSpPr/>
          <p:nvPr/>
        </p:nvSpPr>
        <p:spPr>
          <a:xfrm>
            <a:off x="10816176" y="5034435"/>
            <a:ext cx="87252" cy="87252"/>
          </a:xfrm>
          <a:prstGeom prst="ellipse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4" name="agentbench-head"/>
          <p:cNvSpPr/>
          <p:nvPr/>
        </p:nvSpPr>
        <p:spPr>
          <a:xfrm>
            <a:off x="9233077" y="5840643"/>
            <a:ext cx="112380" cy="80272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5" name="agentbench-tip"/>
          <p:cNvSpPr/>
          <p:nvPr/>
        </p:nvSpPr>
        <p:spPr>
          <a:xfrm>
            <a:off x="9278029" y="5789269"/>
            <a:ext cx="22476" cy="22476"/>
          </a:xfrm>
          <a:prstGeom prst="ellipse">
            <a:avLst/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6" name="agentbench-body"/>
          <p:cNvSpPr/>
          <p:nvPr/>
        </p:nvSpPr>
        <p:spPr>
          <a:xfrm>
            <a:off x="9241104" y="5936969"/>
            <a:ext cx="96326" cy="64217"/>
          </a:xfrm>
          <a:prstGeom prst="roundRect">
            <a:avLst>
              <a:gd name="adj" fmla="val 20000"/>
            </a:avLst>
          </a:prstGeom>
          <a:solidFill>
            <a:srgbClr val="D8EAF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7" name="gaia-clipboard"/>
          <p:cNvSpPr/>
          <p:nvPr/>
        </p:nvSpPr>
        <p:spPr>
          <a:xfrm>
            <a:off x="9742977" y="5723725"/>
            <a:ext cx="261756" cy="331557"/>
          </a:xfrm>
          <a:prstGeom prst="rect">
            <a:avLst/>
          </a:prstGeom>
          <a:solidFill>
            <a:srgbClr val="FFFBF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8" name="gaia-clip"/>
          <p:cNvSpPr/>
          <p:nvPr/>
        </p:nvSpPr>
        <p:spPr>
          <a:xfrm>
            <a:off x="9812779" y="5688824"/>
            <a:ext cx="122153" cy="69802"/>
          </a:xfrm>
          <a:prstGeom prst="roundRect">
            <a:avLst>
              <a:gd name="adj" fmla="val 20000"/>
            </a:avLst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89" name="webarena-globe-outer"/>
          <p:cNvSpPr/>
          <p:nvPr/>
        </p:nvSpPr>
        <p:spPr>
          <a:xfrm>
            <a:off x="10283939" y="5723725"/>
            <a:ext cx="314107" cy="314107"/>
          </a:xfrm>
          <a:prstGeom prst="ellipse">
            <a:avLst/>
          </a:prstGeom>
          <a:solidFill>
            <a:srgbClr val="A8DDEB"/>
          </a:solidFill>
          <a:ln w="16287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0" name="autorag-gear"/>
          <p:cNvSpPr/>
          <p:nvPr/>
        </p:nvSpPr>
        <p:spPr>
          <a:xfrm>
            <a:off x="9271817" y="6404290"/>
            <a:ext cx="157053" cy="157053"/>
          </a:xfrm>
          <a:prstGeom prst="gear6">
            <a:avLst/>
          </a:prstGeom>
          <a:solidFill>
            <a:srgbClr val="F4BE62"/>
          </a:solidFill>
          <a:ln w="930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1" name="system-brain-lobe-0"/>
          <p:cNvSpPr/>
          <p:nvPr/>
        </p:nvSpPr>
        <p:spPr>
          <a:xfrm>
            <a:off x="6026046" y="2643733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2" name="system-brain-lobe-1"/>
          <p:cNvSpPr/>
          <p:nvPr/>
        </p:nvSpPr>
        <p:spPr>
          <a:xfrm>
            <a:off x="6165649" y="2573931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3" name="system-brain-lobe-2"/>
          <p:cNvSpPr/>
          <p:nvPr/>
        </p:nvSpPr>
        <p:spPr>
          <a:xfrm>
            <a:off x="6305252" y="2643733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4" name="system-brain-lobe-3"/>
          <p:cNvSpPr/>
          <p:nvPr/>
        </p:nvSpPr>
        <p:spPr>
          <a:xfrm>
            <a:off x="5991145" y="2800786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5" name="system-brain-lobe-4"/>
          <p:cNvSpPr/>
          <p:nvPr/>
        </p:nvSpPr>
        <p:spPr>
          <a:xfrm>
            <a:off x="6340153" y="2800786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6" name="system-brain-lobe-5"/>
          <p:cNvSpPr/>
          <p:nvPr/>
        </p:nvSpPr>
        <p:spPr>
          <a:xfrm>
            <a:off x="6043496" y="2940389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7" name="system-brain-lobe-6"/>
          <p:cNvSpPr/>
          <p:nvPr/>
        </p:nvSpPr>
        <p:spPr>
          <a:xfrm>
            <a:off x="6165649" y="2992740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8" name="system-brain-lobe-7"/>
          <p:cNvSpPr/>
          <p:nvPr/>
        </p:nvSpPr>
        <p:spPr>
          <a:xfrm>
            <a:off x="6287802" y="2940389"/>
            <a:ext cx="174504" cy="191954"/>
          </a:xfrm>
          <a:prstGeom prst="ellipse">
            <a:avLst/>
          </a:prstGeom>
          <a:solidFill>
            <a:srgbClr val="A1DAF5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99" name="construction-document"/>
          <p:cNvSpPr/>
          <p:nvPr/>
        </p:nvSpPr>
        <p:spPr>
          <a:xfrm>
            <a:off x="6026046" y="5427069"/>
            <a:ext cx="418809" cy="488611"/>
          </a:xfrm>
          <a:prstGeom prst="foldedCorner">
            <a:avLst/>
          </a:prstGeom>
          <a:solidFill>
            <a:srgbClr val="F7FCFE"/>
          </a:solidFill>
          <a:ln w="1512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0" name="construction-clip"/>
          <p:cNvSpPr/>
          <p:nvPr/>
        </p:nvSpPr>
        <p:spPr>
          <a:xfrm>
            <a:off x="6130748" y="5392168"/>
            <a:ext cx="209405" cy="87252"/>
          </a:xfrm>
          <a:prstGeom prst="roundRect">
            <a:avLst>
              <a:gd name="adj" fmla="val 20000"/>
            </a:avLst>
          </a:prstGeom>
          <a:solidFill>
            <a:srgbClr val="F4BE62"/>
          </a:solidFill>
          <a:ln w="1396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1" name="webarena-globe-meridian"/>
          <p:cNvSpPr/>
          <p:nvPr/>
        </p:nvSpPr>
        <p:spPr>
          <a:xfrm>
            <a:off x="10366392" y="5723725"/>
            <a:ext cx="149201" cy="314107"/>
          </a:xfrm>
          <a:prstGeom prst="ellips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2" name="storm-page-rule-0"/>
          <p:cNvSpPr/>
          <p:nvPr/>
        </p:nvSpPr>
        <p:spPr>
          <a:xfrm>
            <a:off x="1837954" y="5357267"/>
            <a:ext cx="174504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3" name="storm-page-rule-1"/>
          <p:cNvSpPr/>
          <p:nvPr/>
        </p:nvSpPr>
        <p:spPr>
          <a:xfrm>
            <a:off x="1837954" y="5427069"/>
            <a:ext cx="174504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4" name="storm-page-rule-2"/>
          <p:cNvSpPr/>
          <p:nvPr/>
        </p:nvSpPr>
        <p:spPr>
          <a:xfrm>
            <a:off x="1837954" y="5496870"/>
            <a:ext cx="174504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5" name="ragflow-page-rule-0"/>
          <p:cNvSpPr/>
          <p:nvPr/>
        </p:nvSpPr>
        <p:spPr>
          <a:xfrm>
            <a:off x="3268886" y="5287466"/>
            <a:ext cx="209405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6" name="ragflow-page-rule-1"/>
          <p:cNvSpPr/>
          <p:nvPr/>
        </p:nvSpPr>
        <p:spPr>
          <a:xfrm>
            <a:off x="3268886" y="5357267"/>
            <a:ext cx="209405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7" name="ragflow-page-rule-2"/>
          <p:cNvSpPr/>
          <p:nvPr/>
        </p:nvSpPr>
        <p:spPr>
          <a:xfrm>
            <a:off x="3268886" y="5427069"/>
            <a:ext cx="209405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8" name="hotpot-top"/>
          <p:cNvSpPr/>
          <p:nvPr/>
        </p:nvSpPr>
        <p:spPr>
          <a:xfrm>
            <a:off x="8853008" y="4929733"/>
            <a:ext cx="226855" cy="87252"/>
          </a:xfrm>
          <a:prstGeom prst="ellipse">
            <a:avLst/>
          </a:prstGeom>
          <a:solidFill>
            <a:srgbClr val="C9C1DE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09" name="webarena-globe-parallel-0"/>
          <p:cNvSpPr/>
          <p:nvPr/>
        </p:nvSpPr>
        <p:spPr>
          <a:xfrm>
            <a:off x="10307497" y="5810105"/>
            <a:ext cx="266991" cy="0"/>
          </a:xfrm>
          <a:prstGeom prst="line">
            <a:avLst/>
          </a:prstGeom>
          <a:noFill/>
          <a:ln w="1047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10" name="webarena-globe-parallel-1"/>
          <p:cNvSpPr/>
          <p:nvPr/>
        </p:nvSpPr>
        <p:spPr>
          <a:xfrm>
            <a:off x="10307497" y="5880779"/>
            <a:ext cx="266991" cy="0"/>
          </a:xfrm>
          <a:prstGeom prst="line">
            <a:avLst/>
          </a:prstGeom>
          <a:noFill/>
          <a:ln w="1047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11" name="webarena-globe-parallel-2"/>
          <p:cNvSpPr/>
          <p:nvPr/>
        </p:nvSpPr>
        <p:spPr>
          <a:xfrm>
            <a:off x="10307497" y="5951453"/>
            <a:ext cx="266991" cy="0"/>
          </a:xfrm>
          <a:prstGeom prst="line">
            <a:avLst/>
          </a:prstGeom>
          <a:noFill/>
          <a:ln w="10470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12" name="construction-document-rule-0"/>
          <p:cNvSpPr/>
          <p:nvPr/>
        </p:nvSpPr>
        <p:spPr>
          <a:xfrm>
            <a:off x="6095848" y="5601573"/>
            <a:ext cx="27920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13" name="construction-document-rule-1"/>
          <p:cNvSpPr/>
          <p:nvPr/>
        </p:nvSpPr>
        <p:spPr>
          <a:xfrm>
            <a:off x="6095848" y="5671374"/>
            <a:ext cx="27920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14" name="construction-document-rule-2"/>
          <p:cNvSpPr/>
          <p:nvPr/>
        </p:nvSpPr>
        <p:spPr>
          <a:xfrm>
            <a:off x="6095848" y="5741176"/>
            <a:ext cx="27920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15" name="metagpt-robot-eye-0"/>
          <p:cNvSpPr/>
          <p:nvPr/>
        </p:nvSpPr>
        <p:spPr>
          <a:xfrm>
            <a:off x="9817386" y="2101445"/>
            <a:ext cx="20103" cy="2010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metagpt-robot-eye-1"/>
          <p:cNvSpPr/>
          <p:nvPr/>
        </p:nvSpPr>
        <p:spPr>
          <a:xfrm>
            <a:off x="9892771" y="2101445"/>
            <a:ext cx="20103" cy="2010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agentbench-eye-0"/>
          <p:cNvSpPr/>
          <p:nvPr/>
        </p:nvSpPr>
        <p:spPr>
          <a:xfrm>
            <a:off x="9258764" y="5874357"/>
            <a:ext cx="12843" cy="1284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agentbench-eye-1"/>
          <p:cNvSpPr/>
          <p:nvPr/>
        </p:nvSpPr>
        <p:spPr>
          <a:xfrm>
            <a:off x="9306927" y="5874357"/>
            <a:ext cx="12843" cy="12843"/>
          </a:xfrm>
          <a:prstGeom prst="ellipse">
            <a:avLst/>
          </a:prstGeom>
          <a:solidFill>
            <a:srgbClr val="36546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storm-bolt"/>
          <p:cNvSpPr/>
          <p:nvPr/>
        </p:nvSpPr>
        <p:spPr>
          <a:xfrm>
            <a:off x="1649490" y="5189744"/>
            <a:ext cx="167524" cy="335047"/>
          </a:xfrm>
          <a:prstGeom prst="lightningBolt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0" name="costorm-bolt"/>
          <p:cNvSpPr/>
          <p:nvPr/>
        </p:nvSpPr>
        <p:spPr>
          <a:xfrm>
            <a:off x="2363211" y="5151353"/>
            <a:ext cx="136113" cy="272226"/>
          </a:xfrm>
          <a:prstGeom prst="lightningBolt">
            <a:avLst/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1" name="mmlu-brain-processor"/>
          <p:cNvSpPr/>
          <p:nvPr/>
        </p:nvSpPr>
        <p:spPr>
          <a:xfrm>
            <a:off x="10107341" y="5014542"/>
            <a:ext cx="108890" cy="127039"/>
          </a:xfrm>
          <a:prstGeom prst="roundRect">
            <a:avLst>
              <a:gd name="adj" fmla="val 23333"/>
            </a:avLst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2" name="system-brain-processor"/>
          <p:cNvSpPr/>
          <p:nvPr/>
        </p:nvSpPr>
        <p:spPr>
          <a:xfrm>
            <a:off x="6148199" y="2757160"/>
            <a:ext cx="209405" cy="244305"/>
          </a:xfrm>
          <a:prstGeom prst="roundRect">
            <a:avLst>
              <a:gd name="adj" fmla="val 23333"/>
            </a:avLst>
          </a:prstGeom>
          <a:solidFill>
            <a:srgbClr val="F4BE62"/>
          </a:solidFill>
          <a:ln w="12796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3" name="construction-bullet-0"/>
          <p:cNvSpPr/>
          <p:nvPr/>
        </p:nvSpPr>
        <p:spPr>
          <a:xfrm>
            <a:off x="6095848" y="5566672"/>
            <a:ext cx="34901" cy="34901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4" name="construction-bullet-1"/>
          <p:cNvSpPr/>
          <p:nvPr/>
        </p:nvSpPr>
        <p:spPr>
          <a:xfrm>
            <a:off x="6095848" y="5653924"/>
            <a:ext cx="34901" cy="34901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5" name="construction-bullet-2"/>
          <p:cNvSpPr/>
          <p:nvPr/>
        </p:nvSpPr>
        <p:spPr>
          <a:xfrm>
            <a:off x="6095848" y="5741176"/>
            <a:ext cx="34901" cy="34901"/>
          </a:xfrm>
          <a:prstGeom prst="ellipse">
            <a:avLst/>
          </a:prstGeom>
          <a:solidFill>
            <a:srgbClr val="F4BE62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6" name="ragflow-lens-handle"/>
          <p:cNvSpPr/>
          <p:nvPr/>
        </p:nvSpPr>
        <p:spPr>
          <a:xfrm>
            <a:off x="3569032" y="5552711"/>
            <a:ext cx="99467" cy="99467"/>
          </a:xfrm>
          <a:prstGeom prst="line">
            <a:avLst/>
          </a:prstGeom>
          <a:noFill/>
          <a:ln w="48861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7" name="hotpot-lens-handle"/>
          <p:cNvSpPr/>
          <p:nvPr/>
        </p:nvSpPr>
        <p:spPr>
          <a:xfrm>
            <a:off x="9111274" y="5196724"/>
            <a:ext cx="66311" cy="66311"/>
          </a:xfrm>
          <a:prstGeom prst="line">
            <a:avLst/>
          </a:prstGeom>
          <a:noFill/>
          <a:ln w="48861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8" name="mmlu-brain-pin-0"/>
          <p:cNvSpPr/>
          <p:nvPr/>
        </p:nvSpPr>
        <p:spPr>
          <a:xfrm>
            <a:off x="10080119" y="5050838"/>
            <a:ext cx="24500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29" name="mmlu-brain-pin-1"/>
          <p:cNvSpPr/>
          <p:nvPr/>
        </p:nvSpPr>
        <p:spPr>
          <a:xfrm flipH="1">
            <a:off x="10218954" y="5050838"/>
            <a:ext cx="24500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0" name="system-brain-pin-0"/>
          <p:cNvSpPr/>
          <p:nvPr/>
        </p:nvSpPr>
        <p:spPr>
          <a:xfrm>
            <a:off x="6095848" y="2826962"/>
            <a:ext cx="4711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1" name="system-brain-pin-1"/>
          <p:cNvSpPr/>
          <p:nvPr/>
        </p:nvSpPr>
        <p:spPr>
          <a:xfrm flipH="1">
            <a:off x="6362838" y="2826962"/>
            <a:ext cx="47116" cy="0"/>
          </a:xfrm>
          <a:prstGeom prst="line">
            <a:avLst/>
          </a:prstGeom>
          <a:noFill/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2" name="ragflow-lens-rim"/>
          <p:cNvSpPr/>
          <p:nvPr/>
        </p:nvSpPr>
        <p:spPr>
          <a:xfrm>
            <a:off x="3391038" y="5374718"/>
            <a:ext cx="209405" cy="209405"/>
          </a:xfrm>
          <a:prstGeom prst="ellipse">
            <a:avLst/>
          </a:prstGeom>
          <a:solidFill>
            <a:srgbClr val="AECBD9"/>
          </a:solidFill>
          <a:ln w="1861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3" name="hotpot-lens-rim"/>
          <p:cNvSpPr/>
          <p:nvPr/>
        </p:nvSpPr>
        <p:spPr>
          <a:xfrm>
            <a:off x="8992611" y="5078061"/>
            <a:ext cx="139603" cy="139603"/>
          </a:xfrm>
          <a:prstGeom prst="ellipse">
            <a:avLst/>
          </a:prstGeom>
          <a:solidFill>
            <a:srgbClr val="AECBD9"/>
          </a:solidFill>
          <a:ln w="1861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4" name="ragflow-lens-glass"/>
          <p:cNvSpPr/>
          <p:nvPr/>
        </p:nvSpPr>
        <p:spPr>
          <a:xfrm>
            <a:off x="3425939" y="5409618"/>
            <a:ext cx="139603" cy="139603"/>
          </a:xfrm>
          <a:prstGeom prst="ellipse">
            <a:avLst/>
          </a:prstGeom>
          <a:solidFill>
            <a:srgbClr val="F3FBFE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5" name="hotpot-lens-glass"/>
          <p:cNvSpPr/>
          <p:nvPr/>
        </p:nvSpPr>
        <p:spPr>
          <a:xfrm>
            <a:off x="9027512" y="5112962"/>
            <a:ext cx="69802" cy="69802"/>
          </a:xfrm>
          <a:prstGeom prst="ellipse">
            <a:avLst/>
          </a:prstGeom>
          <a:solidFill>
            <a:srgbClr val="F3FBFE"/>
          </a:solidFill>
          <a:ln w="11633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6" name="construction-gear"/>
          <p:cNvSpPr/>
          <p:nvPr/>
        </p:nvSpPr>
        <p:spPr>
          <a:xfrm>
            <a:off x="6287802" y="5688824"/>
            <a:ext cx="314107" cy="314107"/>
          </a:xfrm>
          <a:prstGeom prst="gear6">
            <a:avLst/>
          </a:prstGeom>
          <a:solidFill>
            <a:srgbClr val="F4BE62"/>
          </a:solidFill>
          <a:ln w="16287">
            <a:solidFill>
              <a:srgbClr val="365466"/>
            </a:solidFill>
          </a:ln>
        </p:spPr>
        <p:txBody>
          <a:bodyPr/>
          <a:lstStyle/>
          <a:p/>
        </p:txBody>
      </p:sp>
      <p:sp>
        <p:nvSpPr>
          <p:cNvPr id="137" name="TextBox 137"/>
          <p:cNvSpPr txBox="1"/>
          <p:nvPr/>
        </p:nvSpPr>
        <p:spPr>
          <a:xfrm>
            <a:off x="1680901" y="698015"/>
            <a:ext cx="1919542" cy="2443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4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Foundation Layer</a:t>
            </a:r>
            <a:endParaRPr lang="zh-CN" sz="1484"/>
          </a:p>
        </p:txBody>
      </p:sp>
      <p:sp>
        <p:nvSpPr>
          <p:cNvPr id="138" name="TextBox 138"/>
          <p:cNvSpPr txBox="1"/>
          <p:nvPr/>
        </p:nvSpPr>
        <p:spPr>
          <a:xfrm>
            <a:off x="1593649" y="942321"/>
            <a:ext cx="2094046" cy="45371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66">
                <a:solidFill>
                  <a:srgbClr val="142A38"/>
                </a:solidFill>
                <a:latin typeface="Arial"/>
                <a:ea typeface="Arial"/>
                <a:cs typeface="Arial"/>
              </a:rPr>
              <a:t>Model &amp; Retrieval</a:t>
            </a:r>
            <a:endParaRPr lang="zh-CN" sz="1466"/>
          </a:p>
          <a:p>
            <a:pPr algn="ctr"/>
            <a:r>
              <a:rPr lang="zh-CN" sz="1466">
                <a:solidFill>
                  <a:srgbClr val="142A38"/>
                </a:solidFill>
                <a:latin typeface="Arial"/>
                <a:ea typeface="Arial"/>
                <a:cs typeface="Arial"/>
              </a:rPr>
              <a:t>Components</a:t>
            </a:r>
            <a:endParaRPr lang="zh-CN" sz="1466"/>
          </a:p>
        </p:txBody>
      </p:sp>
      <p:sp>
        <p:nvSpPr>
          <p:cNvPr id="139" name="TextBox 139"/>
          <p:cNvSpPr txBox="1"/>
          <p:nvPr/>
        </p:nvSpPr>
        <p:spPr>
          <a:xfrm>
            <a:off x="1960107" y="1518183"/>
            <a:ext cx="349008" cy="174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92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&lt;/&gt;</a:t>
            </a:r>
            <a:endParaRPr lang="zh-CN" sz="1392"/>
          </a:p>
        </p:txBody>
      </p:sp>
      <p:sp>
        <p:nvSpPr>
          <p:cNvPr id="140" name="TextBox 140"/>
          <p:cNvSpPr txBox="1"/>
          <p:nvPr/>
        </p:nvSpPr>
        <p:spPr>
          <a:xfrm>
            <a:off x="1628550" y="1971893"/>
            <a:ext cx="1012122" cy="2443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"/>
                <a:ea typeface="Arial"/>
                <a:cs typeface="Arial"/>
              </a:rPr>
              <a:t>LangChain</a:t>
            </a:r>
            <a:endParaRPr lang="zh-CN" sz="1282"/>
          </a:p>
        </p:txBody>
      </p:sp>
      <p:sp>
        <p:nvSpPr>
          <p:cNvPr id="141" name="TextBox 141"/>
          <p:cNvSpPr txBox="1"/>
          <p:nvPr/>
        </p:nvSpPr>
        <p:spPr>
          <a:xfrm>
            <a:off x="2640672" y="1971893"/>
            <a:ext cx="1012122" cy="2443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"/>
                <a:ea typeface="Arial"/>
                <a:cs typeface="Arial"/>
              </a:rPr>
              <a:t>LlamaIndex</a:t>
            </a:r>
            <a:endParaRPr lang="zh-CN" sz="1282"/>
          </a:p>
        </p:txBody>
      </p:sp>
      <p:sp>
        <p:nvSpPr>
          <p:cNvPr id="142" name="TextBox 142"/>
          <p:cNvSpPr txBox="1"/>
          <p:nvPr/>
        </p:nvSpPr>
        <p:spPr>
          <a:xfrm>
            <a:off x="4123954" y="1587985"/>
            <a:ext cx="1396031" cy="4886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48">
                <a:solidFill>
                  <a:srgbClr val="142A38"/>
                </a:solidFill>
                <a:latin typeface="Arial"/>
                <a:ea typeface="Arial"/>
                <a:cs typeface="Arial"/>
              </a:rPr>
              <a:t>Model</a:t>
            </a:r>
            <a:endParaRPr lang="zh-CN" sz="1648"/>
          </a:p>
          <a:p>
            <a:pPr algn="ctr"/>
            <a:r>
              <a:rPr lang="zh-CN" sz="1648">
                <a:solidFill>
                  <a:srgbClr val="142A38"/>
                </a:solidFill>
                <a:latin typeface="Arial"/>
                <a:ea typeface="Arial"/>
                <a:cs typeface="Arial"/>
              </a:rPr>
              <a:t>Interfaces</a:t>
            </a:r>
            <a:endParaRPr lang="zh-CN" sz="1648"/>
          </a:p>
        </p:txBody>
      </p:sp>
      <p:sp>
        <p:nvSpPr>
          <p:cNvPr id="143" name="TextBox 143"/>
          <p:cNvSpPr txBox="1"/>
          <p:nvPr/>
        </p:nvSpPr>
        <p:spPr>
          <a:xfrm>
            <a:off x="3530641" y="2477954"/>
            <a:ext cx="1465832" cy="5060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12">
                <a:solidFill>
                  <a:srgbClr val="142A38"/>
                </a:solidFill>
                <a:latin typeface="Arial"/>
                <a:ea typeface="Arial"/>
                <a:cs typeface="Arial"/>
              </a:rPr>
              <a:t>Retrieval</a:t>
            </a:r>
            <a:endParaRPr lang="zh-CN" sz="1612"/>
          </a:p>
          <a:p>
            <a:pPr algn="ctr"/>
            <a:r>
              <a:rPr lang="zh-CN" sz="1612">
                <a:solidFill>
                  <a:srgbClr val="142A38"/>
                </a:solidFill>
                <a:latin typeface="Arial"/>
                <a:ea typeface="Arial"/>
                <a:cs typeface="Arial"/>
              </a:rPr>
              <a:t>Components</a:t>
            </a:r>
            <a:endParaRPr lang="zh-CN" sz="1612"/>
          </a:p>
        </p:txBody>
      </p:sp>
      <p:sp>
        <p:nvSpPr>
          <p:cNvPr id="144" name="TextBox 144"/>
          <p:cNvSpPr txBox="1"/>
          <p:nvPr/>
        </p:nvSpPr>
        <p:spPr>
          <a:xfrm>
            <a:off x="8783206" y="698015"/>
            <a:ext cx="2163847" cy="2443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4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Orchestration Layer</a:t>
            </a:r>
            <a:endParaRPr lang="zh-CN" sz="1484"/>
          </a:p>
        </p:txBody>
      </p:sp>
      <p:sp>
        <p:nvSpPr>
          <p:cNvPr id="145" name="TextBox 145"/>
          <p:cNvSpPr txBox="1"/>
          <p:nvPr/>
        </p:nvSpPr>
        <p:spPr>
          <a:xfrm>
            <a:off x="8765756" y="942321"/>
            <a:ext cx="2198748" cy="27920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66">
                <a:solidFill>
                  <a:srgbClr val="142A38"/>
                </a:solidFill>
                <a:latin typeface="Arial"/>
                <a:ea typeface="Arial"/>
                <a:cs typeface="Arial"/>
              </a:rPr>
              <a:t>Multi-Agent Frameworks</a:t>
            </a:r>
            <a:endParaRPr lang="zh-CN" sz="1466"/>
          </a:p>
        </p:txBody>
      </p:sp>
      <p:sp>
        <p:nvSpPr>
          <p:cNvPr id="146" name="TextBox 146"/>
          <p:cNvSpPr txBox="1"/>
          <p:nvPr/>
        </p:nvSpPr>
        <p:spPr>
          <a:xfrm>
            <a:off x="8870458" y="1832290"/>
            <a:ext cx="889969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"/>
                <a:ea typeface="Arial"/>
                <a:cs typeface="Arial"/>
              </a:rPr>
              <a:t>AutoGen</a:t>
            </a:r>
            <a:endParaRPr lang="zh-CN" sz="1282"/>
          </a:p>
        </p:txBody>
      </p:sp>
      <p:sp>
        <p:nvSpPr>
          <p:cNvPr id="147" name="TextBox 147"/>
          <p:cNvSpPr txBox="1"/>
          <p:nvPr/>
        </p:nvSpPr>
        <p:spPr>
          <a:xfrm>
            <a:off x="10091985" y="1832290"/>
            <a:ext cx="785267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"/>
                <a:ea typeface="Arial"/>
                <a:cs typeface="Arial"/>
              </a:rPr>
              <a:t>CrewAI</a:t>
            </a:r>
            <a:endParaRPr lang="zh-CN" sz="1282"/>
          </a:p>
        </p:txBody>
      </p:sp>
      <p:sp>
        <p:nvSpPr>
          <p:cNvPr id="148" name="TextBox 148"/>
          <p:cNvSpPr txBox="1"/>
          <p:nvPr/>
        </p:nvSpPr>
        <p:spPr>
          <a:xfrm>
            <a:off x="9411420" y="2408153"/>
            <a:ext cx="924870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"/>
                <a:ea typeface="Arial"/>
                <a:cs typeface="Arial"/>
              </a:rPr>
              <a:t>MetaGPT</a:t>
            </a:r>
            <a:endParaRPr lang="zh-CN" sz="1282"/>
          </a:p>
        </p:txBody>
      </p:sp>
      <p:sp>
        <p:nvSpPr>
          <p:cNvPr id="149" name="TextBox 149"/>
          <p:cNvSpPr txBox="1"/>
          <p:nvPr/>
        </p:nvSpPr>
        <p:spPr>
          <a:xfrm>
            <a:off x="7090519" y="1587985"/>
            <a:ext cx="1326229" cy="4886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48">
                <a:solidFill>
                  <a:srgbClr val="142A38"/>
                </a:solidFill>
                <a:latin typeface="Arial"/>
                <a:ea typeface="Arial"/>
                <a:cs typeface="Arial"/>
              </a:rPr>
              <a:t>Role</a:t>
            </a:r>
            <a:endParaRPr lang="zh-CN" sz="1648"/>
          </a:p>
          <a:p>
            <a:pPr algn="ctr"/>
            <a:r>
              <a:rPr lang="zh-CN" sz="1648">
                <a:solidFill>
                  <a:srgbClr val="142A38"/>
                </a:solidFill>
                <a:latin typeface="Arial"/>
                <a:ea typeface="Arial"/>
                <a:cs typeface="Arial"/>
              </a:rPr>
              <a:t>Definition</a:t>
            </a:r>
            <a:endParaRPr lang="zh-CN" sz="1648"/>
          </a:p>
        </p:txBody>
      </p:sp>
      <p:sp>
        <p:nvSpPr>
          <p:cNvPr id="150" name="TextBox 150"/>
          <p:cNvSpPr txBox="1"/>
          <p:nvPr/>
        </p:nvSpPr>
        <p:spPr>
          <a:xfrm>
            <a:off x="7579130" y="2477954"/>
            <a:ext cx="1169176" cy="5060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12">
                <a:solidFill>
                  <a:srgbClr val="142A38"/>
                </a:solidFill>
                <a:latin typeface="Arial"/>
                <a:ea typeface="Arial"/>
                <a:cs typeface="Arial"/>
              </a:rPr>
              <a:t>Workflow</a:t>
            </a:r>
            <a:endParaRPr lang="zh-CN" sz="1612"/>
          </a:p>
          <a:p>
            <a:pPr algn="ctr"/>
            <a:r>
              <a:rPr lang="zh-CN" sz="1612">
                <a:solidFill>
                  <a:srgbClr val="142A38"/>
                </a:solidFill>
                <a:latin typeface="Arial"/>
                <a:ea typeface="Arial"/>
                <a:cs typeface="Arial"/>
              </a:rPr>
              <a:t>Control</a:t>
            </a:r>
            <a:endParaRPr lang="zh-CN" sz="1612"/>
          </a:p>
        </p:txBody>
      </p:sp>
      <p:sp>
        <p:nvSpPr>
          <p:cNvPr id="151" name="TextBox 151"/>
          <p:cNvSpPr txBox="1"/>
          <p:nvPr/>
        </p:nvSpPr>
        <p:spPr>
          <a:xfrm>
            <a:off x="1680901" y="4292794"/>
            <a:ext cx="1919542" cy="4711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4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Application</a:t>
            </a:r>
            <a:endParaRPr lang="zh-CN" sz="1484"/>
          </a:p>
          <a:p>
            <a:pPr algn="ctr"/>
            <a:r>
              <a:rPr lang="zh-CN" sz="1484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Resource Layer</a:t>
            </a:r>
            <a:endParaRPr lang="zh-CN" sz="1484"/>
          </a:p>
        </p:txBody>
      </p:sp>
      <p:sp>
        <p:nvSpPr>
          <p:cNvPr id="152" name="TextBox 152"/>
          <p:cNvSpPr txBox="1"/>
          <p:nvPr/>
        </p:nvSpPr>
        <p:spPr>
          <a:xfrm>
            <a:off x="1593649" y="4729053"/>
            <a:ext cx="2094046" cy="2617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66">
                <a:solidFill>
                  <a:srgbClr val="142A38"/>
                </a:solidFill>
                <a:latin typeface="Arial"/>
                <a:ea typeface="Arial"/>
                <a:cs typeface="Arial"/>
              </a:rPr>
              <a:t>Representative Platforms</a:t>
            </a:r>
            <a:endParaRPr lang="zh-CN" sz="1466"/>
          </a:p>
        </p:txBody>
      </p:sp>
      <p:sp>
        <p:nvSpPr>
          <p:cNvPr id="153" name="TextBox 153"/>
          <p:cNvSpPr txBox="1"/>
          <p:nvPr/>
        </p:nvSpPr>
        <p:spPr>
          <a:xfrm>
            <a:off x="1541298" y="5636473"/>
            <a:ext cx="732916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STORM</a:t>
            </a:r>
            <a:endParaRPr lang="zh-CN" sz="1282"/>
          </a:p>
        </p:txBody>
      </p:sp>
      <p:sp>
        <p:nvSpPr>
          <p:cNvPr id="154" name="TextBox 154"/>
          <p:cNvSpPr txBox="1"/>
          <p:nvPr/>
        </p:nvSpPr>
        <p:spPr>
          <a:xfrm>
            <a:off x="2169512" y="5636473"/>
            <a:ext cx="977221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Co-STORM</a:t>
            </a:r>
            <a:endParaRPr lang="zh-CN" sz="1282"/>
          </a:p>
        </p:txBody>
      </p:sp>
      <p:sp>
        <p:nvSpPr>
          <p:cNvPr id="155" name="TextBox 155"/>
          <p:cNvSpPr txBox="1"/>
          <p:nvPr/>
        </p:nvSpPr>
        <p:spPr>
          <a:xfrm>
            <a:off x="3024580" y="5636473"/>
            <a:ext cx="750366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82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RAGFlow</a:t>
            </a:r>
            <a:endParaRPr lang="zh-CN" sz="1282"/>
          </a:p>
        </p:txBody>
      </p:sp>
      <p:sp>
        <p:nvSpPr>
          <p:cNvPr id="156" name="TextBox 156"/>
          <p:cNvSpPr txBox="1"/>
          <p:nvPr/>
        </p:nvSpPr>
        <p:spPr>
          <a:xfrm>
            <a:off x="3129283" y="3612229"/>
            <a:ext cx="1954443" cy="5060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7">
                <a:solidFill>
                  <a:srgbClr val="142A38"/>
                </a:solidFill>
                <a:latin typeface="Arial"/>
                <a:ea typeface="Arial"/>
                <a:cs typeface="Arial"/>
              </a:rPr>
              <a:t>Retrieval-Grounded</a:t>
            </a:r>
            <a:endParaRPr lang="zh-CN" sz="1557"/>
          </a:p>
          <a:p>
            <a:pPr algn="ctr"/>
            <a:r>
              <a:rPr lang="zh-CN" sz="1557">
                <a:solidFill>
                  <a:srgbClr val="142A38"/>
                </a:solidFill>
                <a:latin typeface="Arial"/>
                <a:ea typeface="Arial"/>
                <a:cs typeface="Arial"/>
              </a:rPr>
              <a:t>Synthesis</a:t>
            </a:r>
            <a:endParaRPr lang="zh-CN" sz="1557"/>
          </a:p>
        </p:txBody>
      </p:sp>
      <p:sp>
        <p:nvSpPr>
          <p:cNvPr id="157" name="TextBox 157"/>
          <p:cNvSpPr txBox="1"/>
          <p:nvPr/>
        </p:nvSpPr>
        <p:spPr>
          <a:xfrm>
            <a:off x="3914550" y="4589450"/>
            <a:ext cx="1553084" cy="4886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12">
                <a:solidFill>
                  <a:srgbClr val="142A38"/>
                </a:solidFill>
                <a:latin typeface="Arial"/>
                <a:ea typeface="Arial"/>
                <a:cs typeface="Arial"/>
              </a:rPr>
              <a:t>Document</a:t>
            </a:r>
            <a:endParaRPr lang="zh-CN" sz="1612"/>
          </a:p>
          <a:p>
            <a:pPr algn="ctr"/>
            <a:r>
              <a:rPr lang="zh-CN" sz="1612">
                <a:solidFill>
                  <a:srgbClr val="142A38"/>
                </a:solidFill>
                <a:latin typeface="Arial"/>
                <a:ea typeface="Arial"/>
                <a:cs typeface="Arial"/>
              </a:rPr>
              <a:t>Understanding</a:t>
            </a:r>
            <a:endParaRPr lang="zh-CN" sz="1612"/>
          </a:p>
        </p:txBody>
      </p:sp>
      <p:sp>
        <p:nvSpPr>
          <p:cNvPr id="158" name="TextBox 158"/>
          <p:cNvSpPr txBox="1"/>
          <p:nvPr/>
        </p:nvSpPr>
        <p:spPr>
          <a:xfrm>
            <a:off x="8713405" y="4153191"/>
            <a:ext cx="2303450" cy="4711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84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Benchmarks &amp;</a:t>
            </a:r>
            <a:endParaRPr lang="zh-CN" sz="1484"/>
          </a:p>
          <a:p>
            <a:pPr algn="ctr"/>
            <a:r>
              <a:rPr lang="zh-CN" sz="1484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Evaluation Tools</a:t>
            </a:r>
            <a:endParaRPr lang="zh-CN" sz="1484"/>
          </a:p>
        </p:txBody>
      </p:sp>
      <p:sp>
        <p:nvSpPr>
          <p:cNvPr id="159" name="TextBox 159"/>
          <p:cNvSpPr txBox="1"/>
          <p:nvPr/>
        </p:nvSpPr>
        <p:spPr>
          <a:xfrm>
            <a:off x="8713405" y="4624351"/>
            <a:ext cx="2303450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27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QA &amp; knowledge benchmarks</a:t>
            </a:r>
            <a:endParaRPr lang="zh-CN" sz="1227"/>
          </a:p>
        </p:txBody>
      </p:sp>
      <p:sp>
        <p:nvSpPr>
          <p:cNvPr id="160" name="TextBox 160"/>
          <p:cNvSpPr txBox="1"/>
          <p:nvPr/>
        </p:nvSpPr>
        <p:spPr>
          <a:xfrm>
            <a:off x="8626153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6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HotpotQA</a:t>
            </a:r>
            <a:endParaRPr lang="zh-CN" sz="1246"/>
          </a:p>
        </p:txBody>
      </p:sp>
      <p:sp>
        <p:nvSpPr>
          <p:cNvPr id="161" name="TextBox 161"/>
          <p:cNvSpPr txBox="1"/>
          <p:nvPr/>
        </p:nvSpPr>
        <p:spPr>
          <a:xfrm>
            <a:off x="9446321" y="4973359"/>
            <a:ext cx="244305" cy="15705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026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QA</a:t>
            </a:r>
            <a:endParaRPr lang="zh-CN" sz="1026"/>
          </a:p>
        </p:txBody>
      </p:sp>
      <p:sp>
        <p:nvSpPr>
          <p:cNvPr id="162" name="TextBox 162"/>
          <p:cNvSpPr txBox="1"/>
          <p:nvPr/>
        </p:nvSpPr>
        <p:spPr>
          <a:xfrm>
            <a:off x="9202016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6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CoQA</a:t>
            </a:r>
            <a:endParaRPr lang="zh-CN" sz="1246"/>
          </a:p>
        </p:txBody>
      </p:sp>
      <p:sp>
        <p:nvSpPr>
          <p:cNvPr id="163" name="TextBox 163"/>
          <p:cNvSpPr txBox="1"/>
          <p:nvPr/>
        </p:nvSpPr>
        <p:spPr>
          <a:xfrm>
            <a:off x="9795329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6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MMLU</a:t>
            </a:r>
            <a:endParaRPr lang="zh-CN" sz="1246"/>
          </a:p>
        </p:txBody>
      </p:sp>
      <p:sp>
        <p:nvSpPr>
          <p:cNvPr id="164" name="TextBox 164"/>
          <p:cNvSpPr txBox="1"/>
          <p:nvPr/>
        </p:nvSpPr>
        <p:spPr>
          <a:xfrm>
            <a:off x="10371191" y="5287466"/>
            <a:ext cx="732916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6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MuSiQue</a:t>
            </a:r>
            <a:endParaRPr lang="zh-CN" sz="1246"/>
          </a:p>
        </p:txBody>
      </p:sp>
      <p:sp>
        <p:nvSpPr>
          <p:cNvPr id="165" name="TextBox 165"/>
          <p:cNvSpPr txBox="1"/>
          <p:nvPr/>
        </p:nvSpPr>
        <p:spPr>
          <a:xfrm>
            <a:off x="8713405" y="5514321"/>
            <a:ext cx="2303450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27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Agent-task benchmarks</a:t>
            </a:r>
            <a:endParaRPr lang="zh-CN" sz="1227"/>
          </a:p>
        </p:txBody>
      </p:sp>
      <p:sp>
        <p:nvSpPr>
          <p:cNvPr id="166" name="TextBox 166"/>
          <p:cNvSpPr txBox="1"/>
          <p:nvPr/>
        </p:nvSpPr>
        <p:spPr>
          <a:xfrm>
            <a:off x="8818107" y="6072733"/>
            <a:ext cx="942321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6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AgentBench</a:t>
            </a:r>
            <a:endParaRPr lang="zh-CN" sz="1246"/>
          </a:p>
        </p:txBody>
      </p:sp>
      <p:sp>
        <p:nvSpPr>
          <p:cNvPr id="167" name="TextBox 167"/>
          <p:cNvSpPr txBox="1"/>
          <p:nvPr/>
        </p:nvSpPr>
        <p:spPr>
          <a:xfrm>
            <a:off x="9603374" y="6072733"/>
            <a:ext cx="523511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6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GAIA</a:t>
            </a:r>
            <a:endParaRPr lang="zh-CN" sz="1246"/>
          </a:p>
        </p:txBody>
      </p:sp>
      <p:sp>
        <p:nvSpPr>
          <p:cNvPr id="168" name="TextBox 168"/>
          <p:cNvSpPr txBox="1"/>
          <p:nvPr/>
        </p:nvSpPr>
        <p:spPr>
          <a:xfrm>
            <a:off x="10022183" y="6072733"/>
            <a:ext cx="837618" cy="2094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46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WebArena</a:t>
            </a:r>
            <a:endParaRPr lang="zh-CN" sz="1246"/>
          </a:p>
        </p:txBody>
      </p:sp>
      <p:sp>
        <p:nvSpPr>
          <p:cNvPr id="169" name="TextBox 169"/>
          <p:cNvSpPr txBox="1"/>
          <p:nvPr/>
        </p:nvSpPr>
        <p:spPr>
          <a:xfrm>
            <a:off x="9498672" y="6369389"/>
            <a:ext cx="1151725" cy="226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91" b="1">
                <a:solidFill>
                  <a:srgbClr val="142A38"/>
                </a:solidFill>
                <a:latin typeface="Arial Narrow"/>
                <a:ea typeface="Arial Narrow"/>
                <a:cs typeface="Arial Narrow"/>
              </a:rPr>
              <a:t>RAG tool: AutoRAG</a:t>
            </a:r>
            <a:endParaRPr lang="zh-CN" sz="1191"/>
          </a:p>
        </p:txBody>
      </p:sp>
      <p:sp>
        <p:nvSpPr>
          <p:cNvPr id="170" name="TextBox 170"/>
          <p:cNvSpPr txBox="1"/>
          <p:nvPr/>
        </p:nvSpPr>
        <p:spPr>
          <a:xfrm>
            <a:off x="7526779" y="3612229"/>
            <a:ext cx="1675237" cy="50606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57">
                <a:solidFill>
                  <a:srgbClr val="142A38"/>
                </a:solidFill>
                <a:latin typeface="Arial"/>
                <a:ea typeface="Arial"/>
                <a:cs typeface="Arial"/>
              </a:rPr>
              <a:t>Answer &amp; Task</a:t>
            </a:r>
            <a:endParaRPr lang="zh-CN" sz="1557"/>
          </a:p>
          <a:p>
            <a:pPr algn="ctr"/>
            <a:r>
              <a:rPr lang="zh-CN" sz="1557">
                <a:solidFill>
                  <a:srgbClr val="142A38"/>
                </a:solidFill>
                <a:latin typeface="Arial"/>
                <a:ea typeface="Arial"/>
                <a:cs typeface="Arial"/>
              </a:rPr>
              <a:t>Assessment</a:t>
            </a:r>
            <a:endParaRPr lang="zh-CN" sz="1557"/>
          </a:p>
        </p:txBody>
      </p:sp>
      <p:sp>
        <p:nvSpPr>
          <p:cNvPr id="171" name="TextBox 171"/>
          <p:cNvSpPr txBox="1"/>
          <p:nvPr/>
        </p:nvSpPr>
        <p:spPr>
          <a:xfrm>
            <a:off x="6881115" y="4589450"/>
            <a:ext cx="1570534" cy="4886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466">
                <a:solidFill>
                  <a:srgbClr val="142A38"/>
                </a:solidFill>
                <a:latin typeface="Arial"/>
                <a:ea typeface="Arial"/>
                <a:cs typeface="Arial"/>
              </a:rPr>
              <a:t>RAG Component</a:t>
            </a:r>
            <a:endParaRPr lang="zh-CN" sz="1466"/>
          </a:p>
          <a:p>
            <a:pPr algn="ctr"/>
            <a:r>
              <a:rPr lang="zh-CN" sz="1466">
                <a:solidFill>
                  <a:srgbClr val="142A38"/>
                </a:solidFill>
                <a:latin typeface="Arial"/>
                <a:ea typeface="Arial"/>
                <a:cs typeface="Arial"/>
              </a:rPr>
              <a:t>Evaluation</a:t>
            </a:r>
            <a:endParaRPr lang="zh-CN" sz="1466"/>
          </a:p>
        </p:txBody>
      </p:sp>
      <p:sp>
        <p:nvSpPr>
          <p:cNvPr id="172" name="TextBox 172"/>
          <p:cNvSpPr txBox="1"/>
          <p:nvPr/>
        </p:nvSpPr>
        <p:spPr>
          <a:xfrm>
            <a:off x="6130748" y="2739710"/>
            <a:ext cx="244305" cy="296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12" b="1">
                <a:solidFill>
                  <a:srgbClr val="142A38"/>
                </a:solidFill>
                <a:latin typeface="Arial"/>
                <a:ea typeface="Arial"/>
                <a:cs typeface="Arial"/>
              </a:rPr>
              <a:t>AI</a:t>
            </a:r>
            <a:endParaRPr lang="zh-CN" sz="1612"/>
          </a:p>
        </p:txBody>
      </p:sp>
      <p:sp>
        <p:nvSpPr>
          <p:cNvPr id="173" name="TextBox 173"/>
          <p:cNvSpPr txBox="1"/>
          <p:nvPr/>
        </p:nvSpPr>
        <p:spPr>
          <a:xfrm>
            <a:off x="5362932" y="3385374"/>
            <a:ext cx="1779939" cy="6980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7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Multi-Agent</a:t>
            </a:r>
            <a:endParaRPr lang="zh-CN" sz="2107"/>
          </a:p>
          <a:p>
            <a:pPr algn="ctr"/>
            <a:r>
              <a:rPr lang="zh-CN" sz="2107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QA System</a:t>
            </a:r>
            <a:endParaRPr lang="zh-CN" sz="2107"/>
          </a:p>
        </p:txBody>
      </p:sp>
      <p:sp>
        <p:nvSpPr>
          <p:cNvPr id="174" name="TextBox 174"/>
          <p:cNvSpPr txBox="1"/>
          <p:nvPr/>
        </p:nvSpPr>
        <p:spPr>
          <a:xfrm>
            <a:off x="5013924" y="6072733"/>
            <a:ext cx="2477954" cy="4886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48">
                <a:solidFill>
                  <a:srgbClr val="142A38"/>
                </a:solidFill>
                <a:latin typeface="Arial"/>
                <a:ea typeface="Arial"/>
                <a:cs typeface="Arial"/>
              </a:rPr>
              <a:t>System Construction</a:t>
            </a:r>
            <a:endParaRPr lang="zh-CN" sz="1648"/>
          </a:p>
          <a:p>
            <a:pPr algn="ctr"/>
            <a:r>
              <a:rPr lang="zh-CN" sz="1648">
                <a:solidFill>
                  <a:srgbClr val="142A38"/>
                </a:solidFill>
                <a:latin typeface="Arial"/>
                <a:ea typeface="Arial"/>
                <a:cs typeface="Arial"/>
              </a:rPr>
              <a:t>&amp; Evaluation</a:t>
            </a:r>
            <a:endParaRPr lang="zh-CN" sz="1648"/>
          </a:p>
        </p:txBody>
      </p:sp>
      <p:sp>
        <p:nvSpPr>
          <p:cNvPr id="175" name="TextBox 175"/>
          <p:cNvSpPr txBox="1"/>
          <p:nvPr/>
        </p:nvSpPr>
        <p:spPr>
          <a:xfrm>
            <a:off x="3722596" y="6596244"/>
            <a:ext cx="5078061" cy="24430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09">
                <a:solidFill>
                  <a:srgbClr val="607181"/>
                </a:solidFill>
                <a:latin typeface="Arial Narrow"/>
                <a:ea typeface="Arial Narrow"/>
                <a:cs typeface="Arial Narrow"/>
              </a:rPr>
              <a:t>Conceptual resource map; process assessment needs trace-level measures.</a:t>
            </a:r>
            <a:endParaRPr lang="zh-CN" sz="120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