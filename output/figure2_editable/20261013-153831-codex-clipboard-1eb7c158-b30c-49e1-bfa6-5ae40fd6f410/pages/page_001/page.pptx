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753225" cy="31432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0"/>
          <p:cNvSpPr/>
          <p:nvPr/>
        </p:nvSpPr>
        <p:spPr>
          <a:xfrm>
            <a:off x="4476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DED9F3"/>
          </a:solidFill>
          <a:ln w="1397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3" name="card-1"/>
          <p:cNvSpPr/>
          <p:nvPr/>
        </p:nvSpPr>
        <p:spPr>
          <a:xfrm>
            <a:off x="20097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D0EBDF"/>
          </a:solidFill>
          <a:ln w="13970">
            <a:solidFill>
              <a:srgbClr val="689C86"/>
            </a:solidFill>
          </a:ln>
        </p:spPr>
        <p:txBody>
          <a:bodyPr/>
          <a:lstStyle/>
          <a:p/>
        </p:txBody>
      </p:sp>
      <p:sp>
        <p:nvSpPr>
          <p:cNvPr id="4" name="card-2"/>
          <p:cNvSpPr/>
          <p:nvPr/>
        </p:nvSpPr>
        <p:spPr>
          <a:xfrm>
            <a:off x="35718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FFE0A7"/>
          </a:solidFill>
          <a:ln w="13970">
            <a:solidFill>
              <a:srgbClr val="C18D40"/>
            </a:solidFill>
          </a:ln>
        </p:spPr>
        <p:txBody>
          <a:bodyPr/>
          <a:lstStyle/>
          <a:p/>
        </p:txBody>
      </p:sp>
      <p:sp>
        <p:nvSpPr>
          <p:cNvPr id="5" name="card-3"/>
          <p:cNvSpPr/>
          <p:nvPr/>
        </p:nvSpPr>
        <p:spPr>
          <a:xfrm>
            <a:off x="5133975" y="800100"/>
            <a:ext cx="1285875" cy="1485900"/>
          </a:xfrm>
          <a:prstGeom prst="roundRect">
            <a:avLst>
              <a:gd name="adj" fmla="val 11852"/>
            </a:avLst>
          </a:prstGeom>
          <a:solidFill>
            <a:srgbClr val="F5CED5"/>
          </a:solidFill>
          <a:ln w="13970">
            <a:solidFill>
              <a:srgbClr val="B87284"/>
            </a:solidFill>
          </a:ln>
        </p:spPr>
        <p:txBody>
          <a:bodyPr/>
          <a:lstStyle/>
          <a:p/>
        </p:txBody>
      </p:sp>
      <p:sp>
        <p:nvSpPr>
          <p:cNvPr id="6" name="tree-edge-0"/>
          <p:cNvSpPr/>
          <p:nvPr/>
        </p:nvSpPr>
        <p:spPr>
          <a:xfrm flipH="1">
            <a:off x="904875" y="1228725"/>
            <a:ext cx="180975" cy="147637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7" name="tree-edge-1"/>
          <p:cNvSpPr/>
          <p:nvPr/>
        </p:nvSpPr>
        <p:spPr>
          <a:xfrm>
            <a:off x="1085850" y="1228725"/>
            <a:ext cx="190500" cy="147637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8" name="tree-edge-2"/>
          <p:cNvSpPr/>
          <p:nvPr/>
        </p:nvSpPr>
        <p:spPr>
          <a:xfrm flipH="1">
            <a:off x="809625" y="1481137"/>
            <a:ext cx="95250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9" name="tree-edge-3"/>
          <p:cNvSpPr/>
          <p:nvPr/>
        </p:nvSpPr>
        <p:spPr>
          <a:xfrm>
            <a:off x="904875" y="1481137"/>
            <a:ext cx="85725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10" name="tree-edge-4"/>
          <p:cNvSpPr/>
          <p:nvPr/>
        </p:nvSpPr>
        <p:spPr>
          <a:xfrm flipH="1">
            <a:off x="1181100" y="1481137"/>
            <a:ext cx="95250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11" name="tree-edge-5"/>
          <p:cNvSpPr/>
          <p:nvPr/>
        </p:nvSpPr>
        <p:spPr>
          <a:xfrm>
            <a:off x="1276350" y="1481137"/>
            <a:ext cx="95250" cy="128588"/>
          </a:xfrm>
          <a:prstGeom prst="line">
            <a:avLst/>
          </a:prstGeom>
          <a:noFill/>
          <a:ln w="12700">
            <a:solidFill>
              <a:srgbClr val="8C81B3"/>
            </a:solidFill>
          </a:ln>
        </p:spPr>
        <p:txBody>
          <a:bodyPr/>
          <a:lstStyle/>
          <a:p/>
        </p:txBody>
      </p:sp>
      <p:sp>
        <p:nvSpPr>
          <p:cNvPr id="12" name="neural-edge-0-0-0"/>
          <p:cNvSpPr/>
          <p:nvPr/>
        </p:nvSpPr>
        <p:spPr>
          <a:xfrm flipV="1">
            <a:off x="3933825" y="1171575"/>
            <a:ext cx="266700" cy="857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3" name="neural-edge-0-0-1"/>
          <p:cNvSpPr/>
          <p:nvPr/>
        </p:nvSpPr>
        <p:spPr>
          <a:xfrm>
            <a:off x="3933825" y="1257300"/>
            <a:ext cx="266700" cy="1333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4" name="neural-edge-0-0-2"/>
          <p:cNvSpPr/>
          <p:nvPr/>
        </p:nvSpPr>
        <p:spPr>
          <a:xfrm>
            <a:off x="3933825" y="1257300"/>
            <a:ext cx="266700" cy="4191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5" name="neural-edge-0-1-0"/>
          <p:cNvSpPr/>
          <p:nvPr/>
        </p:nvSpPr>
        <p:spPr>
          <a:xfrm flipV="1">
            <a:off x="3933825" y="1171575"/>
            <a:ext cx="266700" cy="2667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6" name="neural-edge-0-1-1"/>
          <p:cNvSpPr/>
          <p:nvPr/>
        </p:nvSpPr>
        <p:spPr>
          <a:xfrm flipV="1">
            <a:off x="3933825" y="1390650"/>
            <a:ext cx="266700" cy="476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7" name="neural-edge-0-1-2"/>
          <p:cNvSpPr/>
          <p:nvPr/>
        </p:nvSpPr>
        <p:spPr>
          <a:xfrm>
            <a:off x="3933825" y="1438275"/>
            <a:ext cx="266700" cy="2381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8" name="neural-edge-0-2-0"/>
          <p:cNvSpPr/>
          <p:nvPr/>
        </p:nvSpPr>
        <p:spPr>
          <a:xfrm flipV="1">
            <a:off x="3933825" y="1171575"/>
            <a:ext cx="266700" cy="44767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19" name="neural-edge-0-2-1"/>
          <p:cNvSpPr/>
          <p:nvPr/>
        </p:nvSpPr>
        <p:spPr>
          <a:xfrm flipV="1">
            <a:off x="3933825" y="1390650"/>
            <a:ext cx="266700" cy="2286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0" name="neural-edge-0-2-2"/>
          <p:cNvSpPr/>
          <p:nvPr/>
        </p:nvSpPr>
        <p:spPr>
          <a:xfrm>
            <a:off x="3933825" y="1619250"/>
            <a:ext cx="266700" cy="571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1" name="neural-edge-1-0-0"/>
          <p:cNvSpPr/>
          <p:nvPr/>
        </p:nvSpPr>
        <p:spPr>
          <a:xfrm>
            <a:off x="4200525" y="1171575"/>
            <a:ext cx="285750" cy="16192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2" name="neural-edge-1-0-1"/>
          <p:cNvSpPr/>
          <p:nvPr/>
        </p:nvSpPr>
        <p:spPr>
          <a:xfrm>
            <a:off x="4200525" y="1171575"/>
            <a:ext cx="285750" cy="3619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3" name="neural-edge-1-1-0"/>
          <p:cNvSpPr/>
          <p:nvPr/>
        </p:nvSpPr>
        <p:spPr>
          <a:xfrm flipV="1">
            <a:off x="4200525" y="1333500"/>
            <a:ext cx="285750" cy="5715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4" name="neural-edge-1-1-1"/>
          <p:cNvSpPr/>
          <p:nvPr/>
        </p:nvSpPr>
        <p:spPr>
          <a:xfrm>
            <a:off x="4200525" y="1390650"/>
            <a:ext cx="285750" cy="14287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5" name="neural-edge-1-2-0"/>
          <p:cNvSpPr/>
          <p:nvPr/>
        </p:nvSpPr>
        <p:spPr>
          <a:xfrm flipV="1">
            <a:off x="4200525" y="1333500"/>
            <a:ext cx="285750" cy="342900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sp>
        <p:nvSpPr>
          <p:cNvPr id="26" name="neural-edge-1-2-1"/>
          <p:cNvSpPr/>
          <p:nvPr/>
        </p:nvSpPr>
        <p:spPr>
          <a:xfrm flipV="1">
            <a:off x="4200525" y="1533525"/>
            <a:ext cx="285750" cy="142875"/>
          </a:xfrm>
          <a:prstGeom prst="line">
            <a:avLst/>
          </a:prstGeom>
          <a:noFill/>
          <a:ln w="9525">
            <a:solidFill>
              <a:srgbClr val="9F7742"/>
            </a:solidFill>
          </a:ln>
        </p:spPr>
        <p:txBody>
          <a:bodyPr/>
          <a:lstStyle/>
          <a:p/>
        </p:txBody>
      </p:sp>
      <p:cxnSp>
        <p:nvCxnSpPr>
          <p:cNvPr id="27" name="agent-link-0"/>
          <p:cNvCxnSpPr/>
          <p:nvPr/>
        </p:nvCxnSpPr>
        <p:spPr>
          <a:xfrm>
            <a:off x="5772150" y="1219200"/>
            <a:ext cx="0" cy="247650"/>
          </a:xfrm>
          <a:prstGeom prst="line">
            <a:avLst/>
          </a:prstGeom>
          <a:noFill/>
          <a:ln w="10160">
            <a:solidFill>
              <a:srgbClr val="67889D"/>
            </a:solidFill>
            <a:tailEnd type="triangle" w="sm" len="sm"/>
          </a:ln>
        </p:spPr>
      </p:cxnSp>
      <p:cxnSp>
        <p:nvCxnSpPr>
          <p:cNvPr id="28" name="agent-link-1"/>
          <p:cNvCxnSpPr/>
          <p:nvPr/>
        </p:nvCxnSpPr>
        <p:spPr>
          <a:xfrm flipV="1">
            <a:off x="5524500" y="1466850"/>
            <a:ext cx="247650" cy="247650"/>
          </a:xfrm>
          <a:prstGeom prst="line">
            <a:avLst/>
          </a:prstGeom>
          <a:noFill/>
          <a:ln w="10160">
            <a:solidFill>
              <a:srgbClr val="67889D"/>
            </a:solidFill>
            <a:tailEnd type="triangle" w="sm" len="sm"/>
          </a:ln>
        </p:spPr>
      </p:cxnSp>
      <p:cxnSp>
        <p:nvCxnSpPr>
          <p:cNvPr id="29" name="agent-link-2"/>
          <p:cNvCxnSpPr/>
          <p:nvPr/>
        </p:nvCxnSpPr>
        <p:spPr>
          <a:xfrm flipH="1" flipV="1">
            <a:off x="5772150" y="1466850"/>
            <a:ext cx="257175" cy="247650"/>
          </a:xfrm>
          <a:prstGeom prst="line">
            <a:avLst/>
          </a:prstGeom>
          <a:noFill/>
          <a:ln w="10160">
            <a:solidFill>
              <a:srgbClr val="67889D"/>
            </a:solidFill>
            <a:tailEnd type="triangle" w="sm" len="sm"/>
          </a:ln>
        </p:spPr>
      </p:cxnSp>
      <p:sp>
        <p:nvSpPr>
          <p:cNvPr id="30" name="tree-node-0"/>
          <p:cNvSpPr/>
          <p:nvPr/>
        </p:nvSpPr>
        <p:spPr>
          <a:xfrm>
            <a:off x="1028700" y="1114425"/>
            <a:ext cx="114300" cy="114300"/>
          </a:xfrm>
          <a:prstGeom prst="ellipse">
            <a:avLst/>
          </a:prstGeom>
          <a:solidFill>
            <a:srgbClr val="BBB0DB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1" name="tree-node-1"/>
          <p:cNvSpPr/>
          <p:nvPr/>
        </p:nvSpPr>
        <p:spPr>
          <a:xfrm>
            <a:off x="852488" y="1376362"/>
            <a:ext cx="104775" cy="104775"/>
          </a:xfrm>
          <a:prstGeom prst="ellipse">
            <a:avLst/>
          </a:prstGeom>
          <a:solidFill>
            <a:srgbClr val="BBB0DB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2" name="tree-node-2"/>
          <p:cNvSpPr/>
          <p:nvPr/>
        </p:nvSpPr>
        <p:spPr>
          <a:xfrm>
            <a:off x="1223962" y="1376362"/>
            <a:ext cx="104775" cy="104775"/>
          </a:xfrm>
          <a:prstGeom prst="ellipse">
            <a:avLst/>
          </a:prstGeom>
          <a:solidFill>
            <a:srgbClr val="BBB0DB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3" name="tree-node-3"/>
          <p:cNvSpPr/>
          <p:nvPr/>
        </p:nvSpPr>
        <p:spPr>
          <a:xfrm>
            <a:off x="762000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4" name="tree-node-4"/>
          <p:cNvSpPr/>
          <p:nvPr/>
        </p:nvSpPr>
        <p:spPr>
          <a:xfrm>
            <a:off x="942975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5" name="tree-node-5"/>
          <p:cNvSpPr/>
          <p:nvPr/>
        </p:nvSpPr>
        <p:spPr>
          <a:xfrm>
            <a:off x="1133475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6" name="tree-node-6"/>
          <p:cNvSpPr/>
          <p:nvPr/>
        </p:nvSpPr>
        <p:spPr>
          <a:xfrm>
            <a:off x="1323975" y="1609725"/>
            <a:ext cx="95250" cy="95250"/>
          </a:xfrm>
          <a:prstGeom prst="ellipse">
            <a:avLst/>
          </a:prstGeom>
          <a:solidFill>
            <a:srgbClr val="D8BBD4"/>
          </a:solidFill>
          <a:ln w="10795">
            <a:solidFill>
              <a:srgbClr val="665982"/>
            </a:solidFill>
          </a:ln>
        </p:spPr>
        <p:txBody>
          <a:bodyPr/>
          <a:lstStyle/>
          <a:p/>
        </p:txBody>
      </p:sp>
      <p:sp>
        <p:nvSpPr>
          <p:cNvPr id="37" name="doc"/>
          <p:cNvSpPr/>
          <p:nvPr/>
        </p:nvSpPr>
        <p:spPr>
          <a:xfrm>
            <a:off x="2676525" y="1104900"/>
            <a:ext cx="257175" cy="342900"/>
          </a:xfrm>
          <a:prstGeom prst="foldedCorner">
            <a:avLst/>
          </a:prstGeom>
          <a:solidFill>
            <a:srgbClr val="EBEDB5"/>
          </a:solidFill>
          <a:ln w="10160">
            <a:solidFill>
              <a:srgbClr val="57726B"/>
            </a:solidFill>
          </a:ln>
        </p:spPr>
        <p:txBody>
          <a:bodyPr/>
          <a:lstStyle/>
          <a:p/>
        </p:txBody>
      </p:sp>
      <p:sp>
        <p:nvSpPr>
          <p:cNvPr id="38" name="database-body-0"/>
          <p:cNvSpPr/>
          <p:nvPr/>
        </p:nvSpPr>
        <p:spPr>
          <a:xfrm>
            <a:off x="2352675" y="1238250"/>
            <a:ext cx="333375" cy="123825"/>
          </a:xfrm>
          <a:prstGeom prst="rect">
            <a:avLst/>
          </a:prstGeom>
          <a:solidFill>
            <a:srgbClr val="A1BAD3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39" name="database-body-1"/>
          <p:cNvSpPr/>
          <p:nvPr/>
        </p:nvSpPr>
        <p:spPr>
          <a:xfrm>
            <a:off x="2352675" y="1352550"/>
            <a:ext cx="333375" cy="123825"/>
          </a:xfrm>
          <a:prstGeom prst="rect">
            <a:avLst/>
          </a:prstGeom>
          <a:solidFill>
            <a:srgbClr val="A1BAD3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40" name="database-body-2"/>
          <p:cNvSpPr/>
          <p:nvPr/>
        </p:nvSpPr>
        <p:spPr>
          <a:xfrm>
            <a:off x="2352675" y="1466850"/>
            <a:ext cx="333375" cy="123825"/>
          </a:xfrm>
          <a:prstGeom prst="rect">
            <a:avLst/>
          </a:prstGeom>
          <a:solidFill>
            <a:srgbClr val="A1BAD3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41" name="database-base-0"/>
          <p:cNvSpPr/>
          <p:nvPr/>
        </p:nvSpPr>
        <p:spPr>
          <a:xfrm>
            <a:off x="2352675" y="1304925"/>
            <a:ext cx="333375" cy="95250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42" name="doc-line-0"/>
          <p:cNvSpPr/>
          <p:nvPr/>
        </p:nvSpPr>
        <p:spPr>
          <a:xfrm>
            <a:off x="2724150" y="1219200"/>
            <a:ext cx="152400" cy="0"/>
          </a:xfrm>
          <a:prstGeom prst="line">
            <a:avLst/>
          </a:prstGeom>
          <a:noFill/>
          <a:ln w="8890">
            <a:solidFill>
              <a:srgbClr val="7E9879"/>
            </a:solidFill>
          </a:ln>
        </p:spPr>
        <p:txBody>
          <a:bodyPr/>
          <a:lstStyle/>
          <a:p/>
        </p:txBody>
      </p:sp>
      <p:sp>
        <p:nvSpPr>
          <p:cNvPr id="43" name="doc-line-1"/>
          <p:cNvSpPr/>
          <p:nvPr/>
        </p:nvSpPr>
        <p:spPr>
          <a:xfrm>
            <a:off x="2724150" y="1266825"/>
            <a:ext cx="152400" cy="0"/>
          </a:xfrm>
          <a:prstGeom prst="line">
            <a:avLst/>
          </a:prstGeom>
          <a:noFill/>
          <a:ln w="8890">
            <a:solidFill>
              <a:srgbClr val="7E9879"/>
            </a:solidFill>
          </a:ln>
        </p:spPr>
        <p:txBody>
          <a:bodyPr/>
          <a:lstStyle/>
          <a:p/>
        </p:txBody>
      </p:sp>
      <p:sp>
        <p:nvSpPr>
          <p:cNvPr id="44" name="doc-line-2"/>
          <p:cNvSpPr/>
          <p:nvPr/>
        </p:nvSpPr>
        <p:spPr>
          <a:xfrm>
            <a:off x="2724150" y="1314450"/>
            <a:ext cx="152400" cy="0"/>
          </a:xfrm>
          <a:prstGeom prst="line">
            <a:avLst/>
          </a:prstGeom>
          <a:noFill/>
          <a:ln w="8890">
            <a:solidFill>
              <a:srgbClr val="7E9879"/>
            </a:solidFill>
          </a:ln>
        </p:spPr>
        <p:txBody>
          <a:bodyPr/>
          <a:lstStyle/>
          <a:p/>
        </p:txBody>
      </p:sp>
      <p:sp>
        <p:nvSpPr>
          <p:cNvPr id="45" name="database-base-1"/>
          <p:cNvSpPr/>
          <p:nvPr/>
        </p:nvSpPr>
        <p:spPr>
          <a:xfrm>
            <a:off x="2352675" y="1419225"/>
            <a:ext cx="333375" cy="95250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46" name="database-base-2"/>
          <p:cNvSpPr/>
          <p:nvPr/>
        </p:nvSpPr>
        <p:spPr>
          <a:xfrm>
            <a:off x="2352675" y="1533525"/>
            <a:ext cx="333375" cy="95250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47" name="neural-node-0-0"/>
          <p:cNvSpPr/>
          <p:nvPr/>
        </p:nvSpPr>
        <p:spPr>
          <a:xfrm>
            <a:off x="3881438" y="1204913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48" name="neural-node-0-1"/>
          <p:cNvSpPr/>
          <p:nvPr/>
        </p:nvSpPr>
        <p:spPr>
          <a:xfrm>
            <a:off x="3881438" y="1385888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49" name="neural-node-0-2"/>
          <p:cNvSpPr/>
          <p:nvPr/>
        </p:nvSpPr>
        <p:spPr>
          <a:xfrm>
            <a:off x="3881438" y="156686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50" name="neural-node-1-0"/>
          <p:cNvSpPr/>
          <p:nvPr/>
        </p:nvSpPr>
        <p:spPr>
          <a:xfrm>
            <a:off x="4148138" y="1119188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51" name="neural-node-1-1"/>
          <p:cNvSpPr/>
          <p:nvPr/>
        </p:nvSpPr>
        <p:spPr>
          <a:xfrm>
            <a:off x="4148138" y="133826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52" name="neural-node-1-2"/>
          <p:cNvSpPr/>
          <p:nvPr/>
        </p:nvSpPr>
        <p:spPr>
          <a:xfrm>
            <a:off x="4148138" y="162401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53" name="neural-node-2-0"/>
          <p:cNvSpPr/>
          <p:nvPr/>
        </p:nvSpPr>
        <p:spPr>
          <a:xfrm>
            <a:off x="4433888" y="1281112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54" name="neural-node-2-1"/>
          <p:cNvSpPr/>
          <p:nvPr/>
        </p:nvSpPr>
        <p:spPr>
          <a:xfrm>
            <a:off x="4433888" y="1481137"/>
            <a:ext cx="104775" cy="104775"/>
          </a:xfrm>
          <a:prstGeom prst="ellipse">
            <a:avLst/>
          </a:prstGeom>
          <a:solidFill>
            <a:srgbClr val="FFD391"/>
          </a:solidFill>
          <a:ln w="10160">
            <a:solidFill>
              <a:srgbClr val="91663D"/>
            </a:solidFill>
          </a:ln>
        </p:spPr>
        <p:txBody>
          <a:bodyPr/>
          <a:lstStyle/>
          <a:p/>
        </p:txBody>
      </p:sp>
      <p:sp>
        <p:nvSpPr>
          <p:cNvPr id="55" name="database-top"/>
          <p:cNvSpPr/>
          <p:nvPr/>
        </p:nvSpPr>
        <p:spPr>
          <a:xfrm>
            <a:off x="2352675" y="1190625"/>
            <a:ext cx="333375" cy="104775"/>
          </a:xfrm>
          <a:prstGeom prst="ellipse">
            <a:avLst/>
          </a:prstGeom>
          <a:solidFill>
            <a:srgbClr val="B6CCE0"/>
          </a:solidFill>
          <a:ln w="1143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56" name="robot-head-0"/>
          <p:cNvSpPr/>
          <p:nvPr/>
        </p:nvSpPr>
        <p:spPr>
          <a:xfrm>
            <a:off x="5695950" y="1114425"/>
            <a:ext cx="152400" cy="104775"/>
          </a:xfrm>
          <a:prstGeom prst="roundRect">
            <a:avLst>
              <a:gd name="adj" fmla="val 20000"/>
            </a:avLst>
          </a:prstGeom>
          <a:solidFill>
            <a:srgbClr val="AFC9D8"/>
          </a:solidFill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57" name="robot-antenna-0"/>
          <p:cNvSpPr/>
          <p:nvPr/>
        </p:nvSpPr>
        <p:spPr>
          <a:xfrm flipV="1">
            <a:off x="5772150" y="1076325"/>
            <a:ext cx="0" cy="38100"/>
          </a:xfrm>
          <a:prstGeom prst="line">
            <a:avLst/>
          </a:prstGeom>
          <a:noFill/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58" name="robot-body-0"/>
          <p:cNvSpPr/>
          <p:nvPr/>
        </p:nvSpPr>
        <p:spPr>
          <a:xfrm>
            <a:off x="5705475" y="1238250"/>
            <a:ext cx="133350" cy="85725"/>
          </a:xfrm>
          <a:prstGeom prst="roundRect">
            <a:avLst>
              <a:gd name="adj" fmla="val 20000"/>
            </a:avLst>
          </a:prstGeom>
          <a:solidFill>
            <a:srgbClr val="B9D4E3"/>
          </a:solidFill>
          <a:ln w="9525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59" name="robot-arm-0--1"/>
          <p:cNvSpPr/>
          <p:nvPr/>
        </p:nvSpPr>
        <p:spPr>
          <a:xfrm flipH="1">
            <a:off x="5657850" y="12477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0" name="robot-leg-0--1"/>
          <p:cNvSpPr/>
          <p:nvPr/>
        </p:nvSpPr>
        <p:spPr>
          <a:xfrm>
            <a:off x="5734050" y="13239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1" name="robot-arm-0-1"/>
          <p:cNvSpPr/>
          <p:nvPr/>
        </p:nvSpPr>
        <p:spPr>
          <a:xfrm>
            <a:off x="5848350" y="12477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2" name="robot-leg-0-1"/>
          <p:cNvSpPr/>
          <p:nvPr/>
        </p:nvSpPr>
        <p:spPr>
          <a:xfrm>
            <a:off x="5810250" y="13239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3" name="robot-head-1"/>
          <p:cNvSpPr/>
          <p:nvPr/>
        </p:nvSpPr>
        <p:spPr>
          <a:xfrm>
            <a:off x="5448300" y="1609725"/>
            <a:ext cx="152400" cy="104775"/>
          </a:xfrm>
          <a:prstGeom prst="roundRect">
            <a:avLst>
              <a:gd name="adj" fmla="val 20000"/>
            </a:avLst>
          </a:prstGeom>
          <a:solidFill>
            <a:srgbClr val="AFC9D8"/>
          </a:solidFill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4" name="robot-antenna-1"/>
          <p:cNvSpPr/>
          <p:nvPr/>
        </p:nvSpPr>
        <p:spPr>
          <a:xfrm flipV="1">
            <a:off x="5524500" y="1571625"/>
            <a:ext cx="0" cy="38100"/>
          </a:xfrm>
          <a:prstGeom prst="line">
            <a:avLst/>
          </a:prstGeom>
          <a:noFill/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5" name="robot-body-1"/>
          <p:cNvSpPr/>
          <p:nvPr/>
        </p:nvSpPr>
        <p:spPr>
          <a:xfrm>
            <a:off x="5457825" y="1733550"/>
            <a:ext cx="133350" cy="85725"/>
          </a:xfrm>
          <a:prstGeom prst="roundRect">
            <a:avLst>
              <a:gd name="adj" fmla="val 20000"/>
            </a:avLst>
          </a:prstGeom>
          <a:solidFill>
            <a:srgbClr val="B9D4E3"/>
          </a:solidFill>
          <a:ln w="9525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6" name="robot-arm-1--1"/>
          <p:cNvSpPr/>
          <p:nvPr/>
        </p:nvSpPr>
        <p:spPr>
          <a:xfrm flipH="1">
            <a:off x="5410200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7" name="robot-leg-1--1"/>
          <p:cNvSpPr/>
          <p:nvPr/>
        </p:nvSpPr>
        <p:spPr>
          <a:xfrm>
            <a:off x="5486400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8" name="robot-arm-1-1"/>
          <p:cNvSpPr/>
          <p:nvPr/>
        </p:nvSpPr>
        <p:spPr>
          <a:xfrm>
            <a:off x="5600700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69" name="robot-leg-1-1"/>
          <p:cNvSpPr/>
          <p:nvPr/>
        </p:nvSpPr>
        <p:spPr>
          <a:xfrm>
            <a:off x="5562600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0" name="robot-head-2"/>
          <p:cNvSpPr/>
          <p:nvPr/>
        </p:nvSpPr>
        <p:spPr>
          <a:xfrm>
            <a:off x="5953125" y="1609725"/>
            <a:ext cx="152400" cy="104775"/>
          </a:xfrm>
          <a:prstGeom prst="roundRect">
            <a:avLst>
              <a:gd name="adj" fmla="val 20000"/>
            </a:avLst>
          </a:prstGeom>
          <a:solidFill>
            <a:srgbClr val="AFC9D8"/>
          </a:solidFill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1" name="robot-antenna-2"/>
          <p:cNvSpPr/>
          <p:nvPr/>
        </p:nvSpPr>
        <p:spPr>
          <a:xfrm flipV="1">
            <a:off x="6029325" y="1571625"/>
            <a:ext cx="0" cy="38100"/>
          </a:xfrm>
          <a:prstGeom prst="line">
            <a:avLst/>
          </a:prstGeom>
          <a:noFill/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2" name="robot-body-2"/>
          <p:cNvSpPr/>
          <p:nvPr/>
        </p:nvSpPr>
        <p:spPr>
          <a:xfrm>
            <a:off x="5962650" y="1733550"/>
            <a:ext cx="133350" cy="85725"/>
          </a:xfrm>
          <a:prstGeom prst="roundRect">
            <a:avLst>
              <a:gd name="adj" fmla="val 20000"/>
            </a:avLst>
          </a:prstGeom>
          <a:solidFill>
            <a:srgbClr val="B9D4E3"/>
          </a:solidFill>
          <a:ln w="9525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3" name="robot-arm-2--1"/>
          <p:cNvSpPr/>
          <p:nvPr/>
        </p:nvSpPr>
        <p:spPr>
          <a:xfrm flipH="1">
            <a:off x="5915025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4" name="robot-leg-2--1"/>
          <p:cNvSpPr/>
          <p:nvPr/>
        </p:nvSpPr>
        <p:spPr>
          <a:xfrm>
            <a:off x="5991225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5" name="robot-arm-2-1"/>
          <p:cNvSpPr/>
          <p:nvPr/>
        </p:nvSpPr>
        <p:spPr>
          <a:xfrm>
            <a:off x="6105525" y="1743075"/>
            <a:ext cx="38100" cy="57150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6" name="robot-leg-2-1"/>
          <p:cNvSpPr/>
          <p:nvPr/>
        </p:nvSpPr>
        <p:spPr>
          <a:xfrm>
            <a:off x="6067425" y="1819275"/>
            <a:ext cx="0" cy="28575"/>
          </a:xfrm>
          <a:prstGeom prst="line">
            <a:avLst/>
          </a:prstGeom>
          <a:noFill/>
          <a:ln w="1270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77" name="robot-eye1-0"/>
          <p:cNvSpPr/>
          <p:nvPr/>
        </p:nvSpPr>
        <p:spPr>
          <a:xfrm>
            <a:off x="5729288" y="1147763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obot-eye2-0"/>
          <p:cNvSpPr/>
          <p:nvPr/>
        </p:nvSpPr>
        <p:spPr>
          <a:xfrm>
            <a:off x="5795962" y="1147763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obot-antenna-tip-0"/>
          <p:cNvSpPr/>
          <p:nvPr/>
        </p:nvSpPr>
        <p:spPr>
          <a:xfrm>
            <a:off x="5757862" y="1057275"/>
            <a:ext cx="28575" cy="28575"/>
          </a:xfrm>
          <a:prstGeom prst="ellipse">
            <a:avLst/>
          </a:prstGeom>
          <a:solidFill>
            <a:srgbClr val="F7E3A8"/>
          </a:solidFill>
          <a:ln w="635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80" name="robot-eye1-1"/>
          <p:cNvSpPr/>
          <p:nvPr/>
        </p:nvSpPr>
        <p:spPr>
          <a:xfrm>
            <a:off x="5481638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obot-eye2-1"/>
          <p:cNvSpPr/>
          <p:nvPr/>
        </p:nvSpPr>
        <p:spPr>
          <a:xfrm>
            <a:off x="5548313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obot-antenna-tip-1"/>
          <p:cNvSpPr/>
          <p:nvPr/>
        </p:nvSpPr>
        <p:spPr>
          <a:xfrm>
            <a:off x="5510212" y="1552575"/>
            <a:ext cx="28575" cy="28575"/>
          </a:xfrm>
          <a:prstGeom prst="ellipse">
            <a:avLst/>
          </a:prstGeom>
          <a:solidFill>
            <a:srgbClr val="F7E3A8"/>
          </a:solidFill>
          <a:ln w="635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83" name="robot-eye1-2"/>
          <p:cNvSpPr/>
          <p:nvPr/>
        </p:nvSpPr>
        <p:spPr>
          <a:xfrm>
            <a:off x="5986462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obot-eye2-2"/>
          <p:cNvSpPr/>
          <p:nvPr/>
        </p:nvSpPr>
        <p:spPr>
          <a:xfrm>
            <a:off x="6053138" y="1643062"/>
            <a:ext cx="19050" cy="19050"/>
          </a:xfrm>
          <a:prstGeom prst="ellipse">
            <a:avLst/>
          </a:prstGeom>
          <a:solidFill>
            <a:srgbClr val="49617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obot-antenna-tip-2"/>
          <p:cNvSpPr/>
          <p:nvPr/>
        </p:nvSpPr>
        <p:spPr>
          <a:xfrm>
            <a:off x="6015038" y="1552575"/>
            <a:ext cx="28575" cy="28575"/>
          </a:xfrm>
          <a:prstGeom prst="ellipse">
            <a:avLst/>
          </a:prstGeom>
          <a:solidFill>
            <a:srgbClr val="F7E3A8"/>
          </a:solidFill>
          <a:ln w="635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86" name="lens-handle"/>
          <p:cNvSpPr/>
          <p:nvPr/>
        </p:nvSpPr>
        <p:spPr>
          <a:xfrm>
            <a:off x="2752725" y="1562100"/>
            <a:ext cx="142875" cy="142875"/>
          </a:xfrm>
          <a:prstGeom prst="line">
            <a:avLst/>
          </a:prstGeom>
          <a:noFill/>
          <a:ln w="5588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87" name="lens-outer"/>
          <p:cNvSpPr/>
          <p:nvPr/>
        </p:nvSpPr>
        <p:spPr>
          <a:xfrm>
            <a:off x="2552700" y="1343025"/>
            <a:ext cx="295275" cy="295275"/>
          </a:xfrm>
          <a:prstGeom prst="ellipse">
            <a:avLst/>
          </a:prstGeom>
          <a:solidFill>
            <a:srgbClr val="A1BAD3"/>
          </a:solidFill>
          <a:ln w="12700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88" name="llm-hub"/>
          <p:cNvSpPr/>
          <p:nvPr/>
        </p:nvSpPr>
        <p:spPr>
          <a:xfrm>
            <a:off x="5629275" y="1352550"/>
            <a:ext cx="285750" cy="247650"/>
          </a:xfrm>
          <a:prstGeom prst="ellipse">
            <a:avLst/>
          </a:prstGeom>
          <a:solidFill>
            <a:srgbClr val="C8DFEA"/>
          </a:solidFill>
          <a:ln w="10160">
            <a:solidFill>
              <a:srgbClr val="56738C"/>
            </a:solidFill>
          </a:ln>
        </p:spPr>
        <p:txBody>
          <a:bodyPr/>
          <a:lstStyle/>
          <a:p/>
        </p:txBody>
      </p:sp>
      <p:sp>
        <p:nvSpPr>
          <p:cNvPr id="89" name="lens-inner"/>
          <p:cNvSpPr/>
          <p:nvPr/>
        </p:nvSpPr>
        <p:spPr>
          <a:xfrm>
            <a:off x="2600325" y="1390650"/>
            <a:ext cx="200025" cy="200025"/>
          </a:xfrm>
          <a:prstGeom prst="ellipse">
            <a:avLst/>
          </a:prstGeom>
          <a:solidFill>
            <a:srgbClr val="F4FBFB"/>
          </a:solidFill>
          <a:ln w="8255">
            <a:solidFill>
              <a:srgbClr val="526F89"/>
            </a:solidFill>
          </a:ln>
        </p:spPr>
        <p:txBody>
          <a:bodyPr/>
          <a:lstStyle/>
          <a:p/>
        </p:txBody>
      </p:sp>
      <p:sp>
        <p:nvSpPr>
          <p:cNvPr id="90" name="phase-arrow-0"/>
          <p:cNvSpPr/>
          <p:nvPr/>
        </p:nvSpPr>
        <p:spPr>
          <a:xfrm>
            <a:off x="1647825" y="1352550"/>
            <a:ext cx="457200" cy="314325"/>
          </a:xfrm>
          <a:prstGeom prst="rightArrow">
            <a:avLst/>
          </a:prstGeom>
          <a:solidFill>
            <a:srgbClr val="8C81B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phase-arrow-1"/>
          <p:cNvSpPr/>
          <p:nvPr/>
        </p:nvSpPr>
        <p:spPr>
          <a:xfrm>
            <a:off x="3209925" y="1352550"/>
            <a:ext cx="457200" cy="314325"/>
          </a:xfrm>
          <a:prstGeom prst="rightArrow">
            <a:avLst/>
          </a:prstGeom>
          <a:solidFill>
            <a:srgbClr val="689C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phase-arrow-2"/>
          <p:cNvSpPr/>
          <p:nvPr/>
        </p:nvSpPr>
        <p:spPr>
          <a:xfrm>
            <a:off x="4772025" y="1352550"/>
            <a:ext cx="457200" cy="314325"/>
          </a:xfrm>
          <a:prstGeom prst="rightArrow">
            <a:avLst/>
          </a:prstGeom>
          <a:solidFill>
            <a:srgbClr val="C18D40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TextBox 93"/>
          <p:cNvSpPr txBox="1"/>
          <p:nvPr/>
        </p:nvSpPr>
        <p:spPr>
          <a:xfrm>
            <a:off x="4857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1960s onward</a:t>
            </a:r>
            <a:endParaRPr lang="zh-CN" sz="1050"/>
          </a:p>
        </p:txBody>
      </p:sp>
      <p:sp>
        <p:nvSpPr>
          <p:cNvPr id="94" name="TextBox 94"/>
          <p:cNvSpPr txBox="1"/>
          <p:nvPr/>
        </p:nvSpPr>
        <p:spPr>
          <a:xfrm>
            <a:off x="4762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Symbolic</a:t>
            </a:r>
            <a:endParaRPr lang="zh-CN" sz="1030"/>
          </a:p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approaches</a:t>
            </a:r>
            <a:endParaRPr lang="zh-CN" sz="1030"/>
          </a:p>
        </p:txBody>
      </p:sp>
      <p:sp>
        <p:nvSpPr>
          <p:cNvPr id="95" name="TextBox 95"/>
          <p:cNvSpPr txBox="1"/>
          <p:nvPr/>
        </p:nvSpPr>
        <p:spPr>
          <a:xfrm>
            <a:off x="4000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ELIZA (1966)</a:t>
            </a:r>
            <a:endParaRPr lang="zh-CN" sz="930"/>
          </a:p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Prolog, Cyc</a:t>
            </a:r>
            <a:endParaRPr lang="zh-CN" sz="930"/>
          </a:p>
        </p:txBody>
      </p:sp>
      <p:sp>
        <p:nvSpPr>
          <p:cNvPr id="96" name="TextBox 96"/>
          <p:cNvSpPr txBox="1"/>
          <p:nvPr/>
        </p:nvSpPr>
        <p:spPr>
          <a:xfrm>
            <a:off x="3524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Rules &amp; logic</a:t>
            </a:r>
            <a:endParaRPr lang="zh-CN" sz="900"/>
          </a:p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Knowledge representation</a:t>
            </a:r>
            <a:endParaRPr lang="zh-CN" sz="900"/>
          </a:p>
        </p:txBody>
      </p:sp>
      <p:sp>
        <p:nvSpPr>
          <p:cNvPr id="97" name="TextBox 97"/>
          <p:cNvSpPr txBox="1"/>
          <p:nvPr/>
        </p:nvSpPr>
        <p:spPr>
          <a:xfrm>
            <a:off x="20478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1990s onward</a:t>
            </a:r>
            <a:endParaRPr lang="zh-CN" sz="1050"/>
          </a:p>
        </p:txBody>
      </p:sp>
      <p:sp>
        <p:nvSpPr>
          <p:cNvPr id="98" name="TextBox 98"/>
          <p:cNvSpPr txBox="1"/>
          <p:nvPr/>
        </p:nvSpPr>
        <p:spPr>
          <a:xfrm>
            <a:off x="20383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Retrieval &amp; reading</a:t>
            </a:r>
            <a:endParaRPr lang="zh-CN" sz="1030"/>
          </a:p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comprehension</a:t>
            </a:r>
            <a:endParaRPr lang="zh-CN" sz="1030"/>
          </a:p>
        </p:txBody>
      </p:sp>
      <p:sp>
        <p:nvSpPr>
          <p:cNvPr id="99" name="TextBox 99"/>
          <p:cNvSpPr txBox="1"/>
          <p:nvPr/>
        </p:nvSpPr>
        <p:spPr>
          <a:xfrm>
            <a:off x="19621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TREC QA (1999)</a:t>
            </a:r>
            <a:endParaRPr lang="zh-CN" sz="930"/>
          </a:p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Web search</a:t>
            </a:r>
            <a:endParaRPr lang="zh-CN" sz="930"/>
          </a:p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SQuAD (2016)</a:t>
            </a:r>
            <a:endParaRPr lang="zh-CN" sz="930"/>
          </a:p>
        </p:txBody>
      </p:sp>
      <p:sp>
        <p:nvSpPr>
          <p:cNvPr id="100" name="TextBox 100"/>
          <p:cNvSpPr txBox="1"/>
          <p:nvPr/>
        </p:nvSpPr>
        <p:spPr>
          <a:xfrm>
            <a:off x="19145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Document retrieval</a:t>
            </a:r>
            <a:endParaRPr lang="zh-CN" sz="900"/>
          </a:p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Answer extraction</a:t>
            </a:r>
            <a:endParaRPr lang="zh-CN" sz="900"/>
          </a:p>
        </p:txBody>
      </p:sp>
      <p:sp>
        <p:nvSpPr>
          <p:cNvPr id="101" name="TextBox 101"/>
          <p:cNvSpPr txBox="1"/>
          <p:nvPr/>
        </p:nvSpPr>
        <p:spPr>
          <a:xfrm>
            <a:off x="36099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2010s onward</a:t>
            </a:r>
            <a:endParaRPr lang="zh-CN" sz="1050"/>
          </a:p>
        </p:txBody>
      </p:sp>
      <p:sp>
        <p:nvSpPr>
          <p:cNvPr id="102" name="TextBox 102"/>
          <p:cNvSpPr txBox="1"/>
          <p:nvPr/>
        </p:nvSpPr>
        <p:spPr>
          <a:xfrm>
            <a:off x="36004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Neural &amp;</a:t>
            </a:r>
            <a:endParaRPr lang="zh-CN" sz="1030"/>
          </a:p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generative QA</a:t>
            </a:r>
            <a:endParaRPr lang="zh-CN" sz="1030"/>
          </a:p>
        </p:txBody>
      </p:sp>
      <p:sp>
        <p:nvSpPr>
          <p:cNvPr id="103" name="TextBox 103"/>
          <p:cNvSpPr txBox="1"/>
          <p:nvPr/>
        </p:nvSpPr>
        <p:spPr>
          <a:xfrm>
            <a:off x="35242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Transformer</a:t>
            </a:r>
            <a:endParaRPr lang="zh-CN" sz="930"/>
          </a:p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BERT, GPT-2/3</a:t>
            </a:r>
            <a:endParaRPr lang="zh-CN" sz="930"/>
          </a:p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T5</a:t>
            </a:r>
            <a:endParaRPr lang="zh-CN" sz="930"/>
          </a:p>
        </p:txBody>
      </p:sp>
      <p:sp>
        <p:nvSpPr>
          <p:cNvPr id="104" name="TextBox 104"/>
          <p:cNvSpPr txBox="1"/>
          <p:nvPr/>
        </p:nvSpPr>
        <p:spPr>
          <a:xfrm>
            <a:off x="34766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Pretraining &amp; fine-tuning</a:t>
            </a:r>
            <a:endParaRPr lang="zh-CN" sz="900"/>
          </a:p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RAG (2020), CoT (2022)</a:t>
            </a:r>
            <a:endParaRPr lang="zh-CN" sz="900"/>
          </a:p>
        </p:txBody>
      </p:sp>
      <p:sp>
        <p:nvSpPr>
          <p:cNvPr id="105" name="TextBox 105"/>
          <p:cNvSpPr txBox="1"/>
          <p:nvPr/>
        </p:nvSpPr>
        <p:spPr>
          <a:xfrm>
            <a:off x="5172075" y="885825"/>
            <a:ext cx="12096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2022 onward</a:t>
            </a:r>
            <a:endParaRPr lang="zh-CN" sz="1050"/>
          </a:p>
        </p:txBody>
      </p:sp>
      <p:sp>
        <p:nvSpPr>
          <p:cNvPr id="106" name="TextBox 106"/>
          <p:cNvSpPr txBox="1"/>
          <p:nvPr/>
        </p:nvSpPr>
        <p:spPr>
          <a:xfrm>
            <a:off x="5162550" y="1876425"/>
            <a:ext cx="1228725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LLM-based</a:t>
            </a:r>
            <a:endParaRPr lang="zh-CN" sz="1030"/>
          </a:p>
          <a:p>
            <a:pPr algn="ctr"/>
            <a:r>
              <a:rPr lang="zh-CN" sz="1030" b="1">
                <a:solidFill>
                  <a:srgbClr val="202B3A"/>
                </a:solidFill>
                <a:latin typeface="Arial"/>
                <a:ea typeface="Arial"/>
                <a:cs typeface="Arial"/>
              </a:rPr>
              <a:t>agentic QA</a:t>
            </a:r>
            <a:endParaRPr lang="zh-CN" sz="1030"/>
          </a:p>
        </p:txBody>
      </p:sp>
      <p:sp>
        <p:nvSpPr>
          <p:cNvPr id="107" name="TextBox 107"/>
          <p:cNvSpPr txBox="1"/>
          <p:nvPr/>
        </p:nvSpPr>
        <p:spPr>
          <a:xfrm>
            <a:off x="5086350" y="161925"/>
            <a:ext cx="1381125" cy="523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ReAct (2022/2023)</a:t>
            </a:r>
            <a:endParaRPr lang="zh-CN" sz="930"/>
          </a:p>
          <a:p>
            <a:pPr algn="ctr"/>
            <a:r>
              <a:rPr lang="zh-CN" sz="930">
                <a:solidFill>
                  <a:srgbClr val="202B3A"/>
                </a:solidFill>
                <a:latin typeface="Arial"/>
                <a:ea typeface="Arial"/>
                <a:cs typeface="Arial"/>
              </a:rPr>
              <a:t>GPT-4, Gemini (2023)</a:t>
            </a:r>
            <a:endParaRPr lang="zh-CN" sz="930"/>
          </a:p>
        </p:txBody>
      </p:sp>
      <p:sp>
        <p:nvSpPr>
          <p:cNvPr id="108" name="TextBox 108"/>
          <p:cNvSpPr txBox="1"/>
          <p:nvPr/>
        </p:nvSpPr>
        <p:spPr>
          <a:xfrm>
            <a:off x="5038725" y="237172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Tool use</a:t>
            </a:r>
            <a:endParaRPr lang="zh-CN" sz="900"/>
          </a:p>
          <a:p>
            <a:pPr algn="ctr"/>
            <a:r>
              <a:rPr lang="zh-CN" sz="900">
                <a:solidFill>
                  <a:srgbClr val="202B3A"/>
                </a:solidFill>
                <a:latin typeface="Arial"/>
                <a:ea typeface="Arial"/>
                <a:cs typeface="Arial"/>
              </a:rPr>
              <a:t>Multi-agent collaboration</a:t>
            </a:r>
            <a:endParaRPr lang="zh-CN" sz="900"/>
          </a:p>
        </p:txBody>
      </p:sp>
      <p:sp>
        <p:nvSpPr>
          <p:cNvPr id="109" name="TextBox 109"/>
          <p:cNvSpPr txBox="1"/>
          <p:nvPr/>
        </p:nvSpPr>
        <p:spPr>
          <a:xfrm>
            <a:off x="5648325" y="1409700"/>
            <a:ext cx="247650" cy="114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50" b="1">
                <a:solidFill>
                  <a:srgbClr val="49617A"/>
                </a:solidFill>
                <a:latin typeface="Arial"/>
                <a:ea typeface="Arial"/>
                <a:cs typeface="Arial"/>
              </a:rPr>
              <a:t>LLM</a:t>
            </a:r>
            <a:endParaRPr lang="zh-CN" sz="750"/>
          </a:p>
        </p:txBody>
      </p:sp>
      <p:sp>
        <p:nvSpPr>
          <p:cNvPr id="110" name="TextBox 110"/>
          <p:cNvSpPr txBox="1"/>
          <p:nvPr/>
        </p:nvSpPr>
        <p:spPr>
          <a:xfrm>
            <a:off x="333375" y="28765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>
                <a:solidFill>
                  <a:srgbClr val="596571"/>
                </a:solidFill>
                <a:latin typeface="Arial"/>
                <a:ea typeface="Arial"/>
                <a:cs typeface="Arial"/>
              </a:rPr>
              <a:t>Representative milestones; paradigms overlap and continue to coexist.</a:t>
            </a:r>
            <a:endParaRPr lang="zh-CN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